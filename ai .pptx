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Anton" pitchFamily="2" charset="0"/>
      <p:regular r:id="rId20"/>
    </p:embeddedFont>
    <p:embeddedFont>
      <p:font typeface="Calibri" panose="020F0502020204030204" pitchFamily="34" charset="0"/>
      <p:regular r:id="rId21"/>
      <p:bold r:id="rId22"/>
      <p:italic r:id="rId23"/>
      <p:boldItalic r:id="rId24"/>
    </p:embeddedFont>
    <p:embeddedFont>
      <p:font typeface="Canva Sans" panose="020B0604020202020204" charset="0"/>
      <p:regular r:id="rId25"/>
    </p:embeddedFont>
    <p:embeddedFont>
      <p:font typeface="Codec Pro" panose="020B0604020202020204" charset="0"/>
      <p:regular r:id="rId26"/>
    </p:embeddedFont>
    <p:embeddedFont>
      <p:font typeface="Codec Pro Bold" panose="020B0604020202020204" charset="0"/>
      <p:regular r:id="rId27"/>
    </p:embeddedFont>
    <p:embeddedFont>
      <p:font typeface="Mokoto" panose="020B0604020202020204" charset="0"/>
      <p:regular r:id="rId28"/>
    </p:embeddedFont>
    <p:embeddedFont>
      <p:font typeface="Tomorrow"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34" y="1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7.sv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2.png"/><Relationship Id="rId7"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4.svg"/><Relationship Id="rId4" Type="http://schemas.openxmlformats.org/officeDocument/2006/relationships/image" Target="../media/image5.png"/><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7.png"/><Relationship Id="rId7" Type="http://schemas.openxmlformats.org/officeDocument/2006/relationships/image" Target="../media/image7.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svg"/><Relationship Id="rId4" Type="http://schemas.openxmlformats.org/officeDocument/2006/relationships/image" Target="../media/image18.svg"/><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8.svg"/><Relationship Id="rId9" Type="http://schemas.openxmlformats.org/officeDocument/2006/relationships/image" Target="../media/image4.sv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7.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svg"/><Relationship Id="rId4" Type="http://schemas.openxmlformats.org/officeDocument/2006/relationships/image" Target="../media/image18.svg"/><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7.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svg"/><Relationship Id="rId4" Type="http://schemas.openxmlformats.org/officeDocument/2006/relationships/image" Target="../media/image18.svg"/><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7.png"/><Relationship Id="rId7" Type="http://schemas.openxmlformats.org/officeDocument/2006/relationships/image" Target="../media/image7.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svg"/><Relationship Id="rId4" Type="http://schemas.openxmlformats.org/officeDocument/2006/relationships/image" Target="../media/image18.svg"/><Relationship Id="rId9"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7.png"/><Relationship Id="rId7" Type="http://schemas.openxmlformats.org/officeDocument/2006/relationships/image" Target="../media/image7.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svg"/><Relationship Id="rId4" Type="http://schemas.openxmlformats.org/officeDocument/2006/relationships/image" Target="../media/image18.svg"/><Relationship Id="rId9"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6.png"/><Relationship Id="rId7" Type="http://schemas.openxmlformats.org/officeDocument/2006/relationships/image" Target="../media/image28.png"/><Relationship Id="rId2" Type="http://schemas.openxmlformats.org/officeDocument/2006/relationships/image" Target="../media/image25.jpe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4.svg"/><Relationship Id="rId5" Type="http://schemas.openxmlformats.org/officeDocument/2006/relationships/image" Target="../media/image26.png"/><Relationship Id="rId10" Type="http://schemas.openxmlformats.org/officeDocument/2006/relationships/image" Target="../media/image3.png"/><Relationship Id="rId4" Type="http://schemas.openxmlformats.org/officeDocument/2006/relationships/image" Target="../media/image7.sv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7.png"/><Relationship Id="rId7" Type="http://schemas.openxmlformats.org/officeDocument/2006/relationships/image" Target="../media/image7.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svg"/><Relationship Id="rId4" Type="http://schemas.openxmlformats.org/officeDocument/2006/relationships/image" Target="../media/image18.svg"/><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7.png"/><Relationship Id="rId7" Type="http://schemas.openxmlformats.org/officeDocument/2006/relationships/image" Target="../media/image7.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8.svg"/><Relationship Id="rId9" Type="http://schemas.openxmlformats.org/officeDocument/2006/relationships/image" Target="../media/image4.sv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7.png"/><Relationship Id="rId7" Type="http://schemas.openxmlformats.org/officeDocument/2006/relationships/image" Target="../media/image7.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svg"/><Relationship Id="rId4" Type="http://schemas.openxmlformats.org/officeDocument/2006/relationships/image" Target="../media/image18.svg"/><Relationship Id="rId9"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7.png"/><Relationship Id="rId7" Type="http://schemas.openxmlformats.org/officeDocument/2006/relationships/image" Target="../media/image7.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34.png"/><Relationship Id="rId5" Type="http://schemas.openxmlformats.org/officeDocument/2006/relationships/image" Target="../media/image5.png"/><Relationship Id="rId10" Type="http://schemas.openxmlformats.org/officeDocument/2006/relationships/image" Target="../media/image33.png"/><Relationship Id="rId4" Type="http://schemas.openxmlformats.org/officeDocument/2006/relationships/image" Target="../media/image18.svg"/><Relationship Id="rId9" Type="http://schemas.openxmlformats.org/officeDocument/2006/relationships/image" Target="../media/image4.svg"/></Relationships>
</file>

<file path=ppt/slides/_rels/slide16.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image" Target="../media/image35.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39.svg"/><Relationship Id="rId2" Type="http://schemas.openxmlformats.org/officeDocument/2006/relationships/image" Target="../media/image37.jpe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4.svg"/></Relationships>
</file>

<file path=ppt/slides/_rels/slide18.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png"/><Relationship Id="rId7"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5.png"/><Relationship Id="rId10" Type="http://schemas.openxmlformats.org/officeDocument/2006/relationships/image" Target="../media/image44.svg"/><Relationship Id="rId4" Type="http://schemas.openxmlformats.org/officeDocument/2006/relationships/image" Target="../media/image4.svg"/><Relationship Id="rId9"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555" b="-6555"/>
            </a:stretch>
          </a:blipFill>
        </p:spPr>
      </p:sp>
      <p:sp>
        <p:nvSpPr>
          <p:cNvPr id="3" name="Freeform 3"/>
          <p:cNvSpPr/>
          <p:nvPr/>
        </p:nvSpPr>
        <p:spPr>
          <a:xfrm>
            <a:off x="11560629" y="-1882901"/>
            <a:ext cx="12919638" cy="12919638"/>
          </a:xfrm>
          <a:custGeom>
            <a:avLst/>
            <a:gdLst/>
            <a:ahLst/>
            <a:cxnLst/>
            <a:rect l="l" t="t" r="r" b="b"/>
            <a:pathLst>
              <a:path w="12919638" h="12919638">
                <a:moveTo>
                  <a:pt x="0" y="0"/>
                </a:moveTo>
                <a:lnTo>
                  <a:pt x="12919637" y="0"/>
                </a:lnTo>
                <a:lnTo>
                  <a:pt x="12919637" y="12919638"/>
                </a:lnTo>
                <a:lnTo>
                  <a:pt x="0" y="12919638"/>
                </a:lnTo>
                <a:lnTo>
                  <a:pt x="0" y="0"/>
                </a:lnTo>
                <a:close/>
              </a:path>
            </a:pathLst>
          </a:custGeom>
          <a:blipFill>
            <a:blip r:embed="rId3">
              <a:alphaModFix amt="24000"/>
            </a:blip>
            <a:stretch>
              <a:fillRect/>
            </a:stretch>
          </a:blipFill>
        </p:spPr>
      </p:sp>
      <p:sp>
        <p:nvSpPr>
          <p:cNvPr id="4" name="Freeform 4"/>
          <p:cNvSpPr/>
          <p:nvPr/>
        </p:nvSpPr>
        <p:spPr>
          <a:xfrm>
            <a:off x="2441680" y="1028700"/>
            <a:ext cx="639926" cy="768471"/>
          </a:xfrm>
          <a:custGeom>
            <a:avLst/>
            <a:gdLst/>
            <a:ahLst/>
            <a:cxnLst/>
            <a:rect l="l" t="t" r="r" b="b"/>
            <a:pathLst>
              <a:path w="639926" h="768471">
                <a:moveTo>
                  <a:pt x="0" y="0"/>
                </a:moveTo>
                <a:lnTo>
                  <a:pt x="639926" y="0"/>
                </a:lnTo>
                <a:lnTo>
                  <a:pt x="639926" y="768471"/>
                </a:lnTo>
                <a:lnTo>
                  <a:pt x="0" y="7684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4237358" y="3578455"/>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6"/>
            <a:stretch>
              <a:fillRect/>
            </a:stretch>
          </a:blipFill>
        </p:spPr>
      </p:sp>
      <p:sp>
        <p:nvSpPr>
          <p:cNvPr id="6" name="TextBox 6"/>
          <p:cNvSpPr txBox="1"/>
          <p:nvPr/>
        </p:nvSpPr>
        <p:spPr>
          <a:xfrm>
            <a:off x="1580029" y="2423968"/>
            <a:ext cx="14690448" cy="1896110"/>
          </a:xfrm>
          <a:prstGeom prst="rect">
            <a:avLst/>
          </a:prstGeom>
        </p:spPr>
        <p:txBody>
          <a:bodyPr lIns="0" tIns="0" rIns="0" bIns="0" rtlCol="0" anchor="t">
            <a:spAutoFit/>
          </a:bodyPr>
          <a:lstStyle/>
          <a:p>
            <a:pPr algn="l">
              <a:lnSpc>
                <a:spcPts val="7419"/>
              </a:lnSpc>
            </a:pPr>
            <a:r>
              <a:rPr lang="en-US" sz="6999">
                <a:solidFill>
                  <a:srgbClr val="FFFFFF"/>
                </a:solidFill>
                <a:latin typeface="Anton"/>
                <a:ea typeface="Anton"/>
                <a:cs typeface="Anton"/>
                <a:sym typeface="Anton"/>
              </a:rPr>
              <a:t>ANALYSIS OF CARSEATS STORES USING MACHINE LEARNING</a:t>
            </a:r>
          </a:p>
        </p:txBody>
      </p:sp>
      <p:sp>
        <p:nvSpPr>
          <p:cNvPr id="7" name="Freeform 7"/>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TextBox 8"/>
          <p:cNvSpPr txBox="1"/>
          <p:nvPr/>
        </p:nvSpPr>
        <p:spPr>
          <a:xfrm>
            <a:off x="3081606" y="1072053"/>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
        <p:nvSpPr>
          <p:cNvPr id="9" name="TextBox 9"/>
          <p:cNvSpPr txBox="1"/>
          <p:nvPr/>
        </p:nvSpPr>
        <p:spPr>
          <a:xfrm>
            <a:off x="1580029" y="4434043"/>
            <a:ext cx="9914066" cy="1450975"/>
          </a:xfrm>
          <a:prstGeom prst="rect">
            <a:avLst/>
          </a:prstGeom>
        </p:spPr>
        <p:txBody>
          <a:bodyPr lIns="0" tIns="0" rIns="0" bIns="0" rtlCol="0" anchor="t">
            <a:spAutoFit/>
          </a:bodyPr>
          <a:lstStyle/>
          <a:p>
            <a:pPr algn="l">
              <a:lnSpc>
                <a:spcPts val="5599"/>
              </a:lnSpc>
              <a:spcBef>
                <a:spcPct val="0"/>
              </a:spcBef>
            </a:pPr>
            <a:r>
              <a:rPr lang="en-US" sz="3999">
                <a:solidFill>
                  <a:srgbClr val="FFFFFF"/>
                </a:solidFill>
                <a:latin typeface="Codec Pro"/>
                <a:ea typeface="Codec Pro"/>
                <a:cs typeface="Codec Pro"/>
                <a:sym typeface="Codec Pro"/>
              </a:rPr>
              <a:t>KNN Classification &amp; K-means Clustering</a:t>
            </a:r>
          </a:p>
        </p:txBody>
      </p:sp>
      <p:sp>
        <p:nvSpPr>
          <p:cNvPr id="10" name="TextBox 10"/>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Tree>
  </p:cSld>
  <p:clrMapOvr>
    <a:masterClrMapping/>
  </p:clrMapOvr>
  <p:transition spd="slow">
    <p:comb/>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7912673" y="-3497784"/>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3">
              <a:alphaModFix amt="61000"/>
            </a:blip>
            <a:stretch>
              <a:fillRect/>
            </a:stretch>
          </a:blipFill>
        </p:spPr>
      </p:sp>
      <p:sp>
        <p:nvSpPr>
          <p:cNvPr id="4" name="Freeform 4"/>
          <p:cNvSpPr/>
          <p:nvPr/>
        </p:nvSpPr>
        <p:spPr>
          <a:xfrm>
            <a:off x="14540106" y="2626055"/>
            <a:ext cx="3453813" cy="7568117"/>
          </a:xfrm>
          <a:custGeom>
            <a:avLst/>
            <a:gdLst/>
            <a:ahLst/>
            <a:cxnLst/>
            <a:rect l="l" t="t" r="r" b="b"/>
            <a:pathLst>
              <a:path w="3453813" h="7568117">
                <a:moveTo>
                  <a:pt x="0" y="0"/>
                </a:moveTo>
                <a:lnTo>
                  <a:pt x="3453813" y="0"/>
                </a:lnTo>
                <a:lnTo>
                  <a:pt x="3453813" y="7568117"/>
                </a:lnTo>
                <a:lnTo>
                  <a:pt x="0" y="7568117"/>
                </a:lnTo>
                <a:lnTo>
                  <a:pt x="0" y="0"/>
                </a:lnTo>
                <a:close/>
              </a:path>
            </a:pathLst>
          </a:custGeom>
          <a:blipFill>
            <a:blip r:embed="rId4">
              <a:alphaModFix amt="17000"/>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3078014" y="1884054"/>
            <a:ext cx="12871480" cy="1896110"/>
          </a:xfrm>
          <a:prstGeom prst="rect">
            <a:avLst/>
          </a:prstGeom>
        </p:spPr>
        <p:txBody>
          <a:bodyPr lIns="0" tIns="0" rIns="0" bIns="0" rtlCol="0" anchor="t">
            <a:spAutoFit/>
          </a:bodyPr>
          <a:lstStyle/>
          <a:p>
            <a:pPr algn="ctr">
              <a:lnSpc>
                <a:spcPts val="7419"/>
              </a:lnSpc>
            </a:pPr>
            <a:r>
              <a:rPr lang="en-US" sz="6999">
                <a:solidFill>
                  <a:srgbClr val="FFFFFF"/>
                </a:solidFill>
                <a:latin typeface="Anton"/>
                <a:ea typeface="Anton"/>
                <a:cs typeface="Anton"/>
                <a:sym typeface="Anton"/>
              </a:rPr>
              <a:t>ANALYSIS OF CARSEATS STORES USING MACHINE LEARNING</a:t>
            </a:r>
          </a:p>
        </p:txBody>
      </p:sp>
      <p:sp>
        <p:nvSpPr>
          <p:cNvPr id="6" name="TextBox 6"/>
          <p:cNvSpPr txBox="1"/>
          <p:nvPr/>
        </p:nvSpPr>
        <p:spPr>
          <a:xfrm>
            <a:off x="3708165" y="3953264"/>
            <a:ext cx="11611177" cy="2266172"/>
          </a:xfrm>
          <a:prstGeom prst="rect">
            <a:avLst/>
          </a:prstGeom>
        </p:spPr>
        <p:txBody>
          <a:bodyPr lIns="0" tIns="0" rIns="0" bIns="0" rtlCol="0" anchor="t">
            <a:spAutoFit/>
          </a:bodyPr>
          <a:lstStyle/>
          <a:p>
            <a:pPr algn="ctr">
              <a:lnSpc>
                <a:spcPts val="4414"/>
              </a:lnSpc>
              <a:spcBef>
                <a:spcPct val="0"/>
              </a:spcBef>
            </a:pPr>
            <a:r>
              <a:rPr lang="en-US" sz="3153">
                <a:solidFill>
                  <a:srgbClr val="FFFFFF"/>
                </a:solidFill>
                <a:latin typeface="Codec Pro"/>
                <a:ea typeface="Codec Pro"/>
                <a:cs typeface="Codec Pro"/>
                <a:sym typeface="Codec Pro"/>
              </a:rPr>
              <a:t> This presentation explores the application of maching learning techniques to analyze 400 stores from the Carseats dataset. I used two machine learning techniques: KNN for classification and K-means for clustering.</a:t>
            </a:r>
          </a:p>
        </p:txBody>
      </p:sp>
      <p:sp>
        <p:nvSpPr>
          <p:cNvPr id="7" name="TextBox 7"/>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02</a:t>
            </a:r>
          </a:p>
        </p:txBody>
      </p:sp>
      <p:sp>
        <p:nvSpPr>
          <p:cNvPr id="8" name="Freeform 8"/>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0" name="Freeform 10"/>
          <p:cNvSpPr/>
          <p:nvPr/>
        </p:nvSpPr>
        <p:spPr>
          <a:xfrm>
            <a:off x="764656" y="745961"/>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1404582" y="789314"/>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1023995" y="3939722"/>
            <a:ext cx="3875673" cy="7329878"/>
          </a:xfrm>
          <a:custGeom>
            <a:avLst/>
            <a:gdLst/>
            <a:ahLst/>
            <a:cxnLst/>
            <a:rect l="l" t="t" r="r" b="b"/>
            <a:pathLst>
              <a:path w="3875673" h="7329878">
                <a:moveTo>
                  <a:pt x="0" y="0"/>
                </a:moveTo>
                <a:lnTo>
                  <a:pt x="3875674" y="0"/>
                </a:lnTo>
                <a:lnTo>
                  <a:pt x="3875674" y="7329878"/>
                </a:lnTo>
                <a:lnTo>
                  <a:pt x="0" y="7329878"/>
                </a:lnTo>
                <a:lnTo>
                  <a:pt x="0" y="0"/>
                </a:lnTo>
                <a:close/>
              </a:path>
            </a:pathLst>
          </a:custGeom>
          <a:blipFill>
            <a:blip r:embed="rId3">
              <a:alphaModFix amt="18000"/>
            </a:blip>
            <a:stretch>
              <a:fillRect/>
            </a:stretch>
          </a:blipFill>
        </p:spPr>
      </p:sp>
      <p:sp>
        <p:nvSpPr>
          <p:cNvPr id="4" name="TextBox 4"/>
          <p:cNvSpPr txBox="1"/>
          <p:nvPr/>
        </p:nvSpPr>
        <p:spPr>
          <a:xfrm>
            <a:off x="3557096" y="875953"/>
            <a:ext cx="10792212" cy="3508896"/>
          </a:xfrm>
          <a:prstGeom prst="rect">
            <a:avLst/>
          </a:prstGeom>
        </p:spPr>
        <p:txBody>
          <a:bodyPr lIns="0" tIns="0" rIns="0" bIns="0" rtlCol="0" anchor="t">
            <a:spAutoFit/>
          </a:bodyPr>
          <a:lstStyle/>
          <a:p>
            <a:pPr algn="ctr">
              <a:lnSpc>
                <a:spcPts val="10056"/>
              </a:lnSpc>
            </a:pPr>
            <a:r>
              <a:rPr lang="en-US" sz="9487">
                <a:solidFill>
                  <a:srgbClr val="FFFFFF"/>
                </a:solidFill>
                <a:latin typeface="Anton"/>
                <a:ea typeface="Anton"/>
                <a:cs typeface="Anton"/>
                <a:sym typeface="Anton"/>
              </a:rPr>
              <a:t> INTRODUCTION TO MACHINE LEARNING</a:t>
            </a:r>
          </a:p>
          <a:p>
            <a:pPr algn="ctr">
              <a:lnSpc>
                <a:spcPts val="7419"/>
              </a:lnSpc>
            </a:pPr>
            <a:endParaRPr lang="en-US" sz="9487">
              <a:solidFill>
                <a:srgbClr val="FFFFFF"/>
              </a:solidFill>
              <a:latin typeface="Anton"/>
              <a:ea typeface="Anton"/>
              <a:cs typeface="Anton"/>
              <a:sym typeface="Anton"/>
            </a:endParaRPr>
          </a:p>
        </p:txBody>
      </p:sp>
      <p:sp>
        <p:nvSpPr>
          <p:cNvPr id="5" name="Freeform 5"/>
          <p:cNvSpPr/>
          <p:nvPr/>
        </p:nvSpPr>
        <p:spPr>
          <a:xfrm>
            <a:off x="-3940086" y="6818715"/>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4">
              <a:alphaModFix amt="57000"/>
            </a:blip>
            <a:stretch>
              <a:fillRect/>
            </a:stretch>
          </a:blipFill>
        </p:spPr>
      </p:sp>
      <p:sp>
        <p:nvSpPr>
          <p:cNvPr id="6" name="Freeform 6"/>
          <p:cNvSpPr/>
          <p:nvPr/>
        </p:nvSpPr>
        <p:spPr>
          <a:xfrm>
            <a:off x="14485040" y="2687800"/>
            <a:ext cx="3875673" cy="7329878"/>
          </a:xfrm>
          <a:custGeom>
            <a:avLst/>
            <a:gdLst/>
            <a:ahLst/>
            <a:cxnLst/>
            <a:rect l="l" t="t" r="r" b="b"/>
            <a:pathLst>
              <a:path w="3875673" h="7329878">
                <a:moveTo>
                  <a:pt x="0" y="0"/>
                </a:moveTo>
                <a:lnTo>
                  <a:pt x="3875674" y="0"/>
                </a:lnTo>
                <a:lnTo>
                  <a:pt x="3875674" y="7329878"/>
                </a:lnTo>
                <a:lnTo>
                  <a:pt x="0" y="7329878"/>
                </a:lnTo>
                <a:lnTo>
                  <a:pt x="0" y="0"/>
                </a:lnTo>
                <a:close/>
              </a:path>
            </a:pathLst>
          </a:custGeom>
          <a:blipFill>
            <a:blip r:embed="rId3">
              <a:alphaModFix amt="18000"/>
            </a:blip>
            <a:stretch>
              <a:fillRect/>
            </a:stretch>
          </a:blipFill>
        </p:spPr>
      </p:sp>
      <p:sp>
        <p:nvSpPr>
          <p:cNvPr id="7" name="Freeform 7"/>
          <p:cNvSpPr/>
          <p:nvPr/>
        </p:nvSpPr>
        <p:spPr>
          <a:xfrm>
            <a:off x="12629204" y="-2778802"/>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4">
              <a:alphaModFix amt="40000"/>
            </a:blip>
            <a:stretch>
              <a:fillRect/>
            </a:stretch>
          </a:blipFill>
        </p:spPr>
      </p:sp>
      <p:sp>
        <p:nvSpPr>
          <p:cNvPr id="8" name="Freeform 8"/>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03</a:t>
            </a:r>
          </a:p>
        </p:txBody>
      </p:sp>
      <p:sp>
        <p:nvSpPr>
          <p:cNvPr id="10" name="TextBox 10"/>
          <p:cNvSpPr txBox="1"/>
          <p:nvPr/>
        </p:nvSpPr>
        <p:spPr>
          <a:xfrm>
            <a:off x="756405" y="4465743"/>
            <a:ext cx="7479243" cy="3038252"/>
          </a:xfrm>
          <a:prstGeom prst="rect">
            <a:avLst/>
          </a:prstGeom>
        </p:spPr>
        <p:txBody>
          <a:bodyPr lIns="0" tIns="0" rIns="0" bIns="0" rtlCol="0" anchor="t">
            <a:spAutoFit/>
          </a:bodyPr>
          <a:lstStyle/>
          <a:p>
            <a:pPr algn="ctr">
              <a:lnSpc>
                <a:spcPts val="4737"/>
              </a:lnSpc>
              <a:spcBef>
                <a:spcPct val="0"/>
              </a:spcBef>
            </a:pPr>
            <a:r>
              <a:rPr lang="en-US" sz="3383">
                <a:solidFill>
                  <a:srgbClr val="10D3F9"/>
                </a:solidFill>
                <a:latin typeface="Codec Pro"/>
                <a:ea typeface="Codec Pro"/>
                <a:cs typeface="Codec Pro"/>
                <a:sym typeface="Codec Pro"/>
              </a:rPr>
              <a:t>Supervised Learning:</a:t>
            </a:r>
            <a:r>
              <a:rPr lang="en-US" sz="3383">
                <a:solidFill>
                  <a:srgbClr val="FFFFFF"/>
                </a:solidFill>
                <a:latin typeface="Codec Pro"/>
                <a:ea typeface="Codec Pro"/>
                <a:cs typeface="Codec Pro"/>
                <a:sym typeface="Codec Pro"/>
              </a:rPr>
              <a:t> We have labeled data (like "High Sales" or "Low Sales"), and we train a model to predict these labels.</a:t>
            </a:r>
          </a:p>
          <a:p>
            <a:pPr algn="ctr">
              <a:lnSpc>
                <a:spcPts val="4737"/>
              </a:lnSpc>
              <a:spcBef>
                <a:spcPct val="0"/>
              </a:spcBef>
            </a:pPr>
            <a:endParaRPr lang="en-US" sz="3383">
              <a:solidFill>
                <a:srgbClr val="FFFFFF"/>
              </a:solidFill>
              <a:latin typeface="Codec Pro"/>
              <a:ea typeface="Codec Pro"/>
              <a:cs typeface="Codec Pro"/>
              <a:sym typeface="Codec Pro"/>
            </a:endParaRPr>
          </a:p>
        </p:txBody>
      </p:sp>
      <p:sp>
        <p:nvSpPr>
          <p:cNvPr id="11" name="TextBox 11"/>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2" name="TextBox 12"/>
          <p:cNvSpPr txBox="1"/>
          <p:nvPr/>
        </p:nvSpPr>
        <p:spPr>
          <a:xfrm>
            <a:off x="9144000" y="4465743"/>
            <a:ext cx="7278877" cy="2438177"/>
          </a:xfrm>
          <a:prstGeom prst="rect">
            <a:avLst/>
          </a:prstGeom>
        </p:spPr>
        <p:txBody>
          <a:bodyPr lIns="0" tIns="0" rIns="0" bIns="0" rtlCol="0" anchor="t">
            <a:spAutoFit/>
          </a:bodyPr>
          <a:lstStyle/>
          <a:p>
            <a:pPr algn="ctr">
              <a:lnSpc>
                <a:spcPts val="4737"/>
              </a:lnSpc>
              <a:spcBef>
                <a:spcPct val="0"/>
              </a:spcBef>
            </a:pPr>
            <a:r>
              <a:rPr lang="en-US" sz="3383">
                <a:solidFill>
                  <a:srgbClr val="10D3F9"/>
                </a:solidFill>
                <a:latin typeface="Codec Pro"/>
                <a:ea typeface="Codec Pro"/>
                <a:cs typeface="Codec Pro"/>
                <a:sym typeface="Codec Pro"/>
              </a:rPr>
              <a:t>Unsupervised Learning: </a:t>
            </a:r>
            <a:r>
              <a:rPr lang="en-US" sz="3383">
                <a:solidFill>
                  <a:srgbClr val="FFFFFF"/>
                </a:solidFill>
                <a:latin typeface="Codec Pro"/>
                <a:ea typeface="Codec Pro"/>
                <a:cs typeface="Codec Pro"/>
                <a:sym typeface="Codec Pro"/>
              </a:rPr>
              <a:t>We have no labels; we find patterns and group similar data points together.</a:t>
            </a:r>
          </a:p>
          <a:p>
            <a:pPr algn="ctr">
              <a:lnSpc>
                <a:spcPts val="4737"/>
              </a:lnSpc>
              <a:spcBef>
                <a:spcPct val="0"/>
              </a:spcBef>
            </a:pPr>
            <a:endParaRPr lang="en-US" sz="3383">
              <a:solidFill>
                <a:srgbClr val="FFFFFF"/>
              </a:solidFill>
              <a:latin typeface="Codec Pro"/>
              <a:ea typeface="Codec Pro"/>
              <a:cs typeface="Codec Pro"/>
              <a:sym typeface="Codec Pro"/>
            </a:endParaRPr>
          </a:p>
        </p:txBody>
      </p:sp>
      <p:sp>
        <p:nvSpPr>
          <p:cNvPr id="13" name="Freeform 13"/>
          <p:cNvSpPr/>
          <p:nvPr/>
        </p:nvSpPr>
        <p:spPr>
          <a:xfrm>
            <a:off x="1028700" y="735443"/>
            <a:ext cx="639926" cy="768471"/>
          </a:xfrm>
          <a:custGeom>
            <a:avLst/>
            <a:gdLst/>
            <a:ahLst/>
            <a:cxnLst/>
            <a:rect l="l" t="t" r="r" b="b"/>
            <a:pathLst>
              <a:path w="639926" h="768471">
                <a:moveTo>
                  <a:pt x="0" y="0"/>
                </a:moveTo>
                <a:lnTo>
                  <a:pt x="639926" y="0"/>
                </a:lnTo>
                <a:lnTo>
                  <a:pt x="639926" y="768471"/>
                </a:lnTo>
                <a:lnTo>
                  <a:pt x="0" y="76847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TextBox 14"/>
          <p:cNvSpPr txBox="1"/>
          <p:nvPr/>
        </p:nvSpPr>
        <p:spPr>
          <a:xfrm>
            <a:off x="1925788" y="704503"/>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a:off x="11560629" y="-1882901"/>
            <a:ext cx="12919638" cy="12919638"/>
          </a:xfrm>
          <a:custGeom>
            <a:avLst/>
            <a:gdLst/>
            <a:ahLst/>
            <a:cxnLst/>
            <a:rect l="l" t="t" r="r" b="b"/>
            <a:pathLst>
              <a:path w="12919638" h="12919638">
                <a:moveTo>
                  <a:pt x="0" y="0"/>
                </a:moveTo>
                <a:lnTo>
                  <a:pt x="12919637" y="0"/>
                </a:lnTo>
                <a:lnTo>
                  <a:pt x="12919637" y="12919638"/>
                </a:lnTo>
                <a:lnTo>
                  <a:pt x="0" y="12919638"/>
                </a:lnTo>
                <a:lnTo>
                  <a:pt x="0" y="0"/>
                </a:lnTo>
                <a:close/>
              </a:path>
            </a:pathLst>
          </a:custGeom>
          <a:blipFill>
            <a:blip r:embed="rId3">
              <a:alphaModFix amt="24000"/>
            </a:blip>
            <a:stretch>
              <a:fillRect/>
            </a:stretch>
          </a:blipFill>
        </p:spPr>
      </p:sp>
      <p:sp>
        <p:nvSpPr>
          <p:cNvPr id="4" name="Freeform 4"/>
          <p:cNvSpPr/>
          <p:nvPr/>
        </p:nvSpPr>
        <p:spPr>
          <a:xfrm>
            <a:off x="-5952841" y="5367493"/>
            <a:ext cx="10974678" cy="9369631"/>
          </a:xfrm>
          <a:custGeom>
            <a:avLst/>
            <a:gdLst/>
            <a:ahLst/>
            <a:cxnLst/>
            <a:rect l="l" t="t" r="r" b="b"/>
            <a:pathLst>
              <a:path w="10974678" h="9369631">
                <a:moveTo>
                  <a:pt x="0" y="0"/>
                </a:moveTo>
                <a:lnTo>
                  <a:pt x="10974678" y="0"/>
                </a:lnTo>
                <a:lnTo>
                  <a:pt x="10974678" y="9369632"/>
                </a:lnTo>
                <a:lnTo>
                  <a:pt x="0" y="9369632"/>
                </a:lnTo>
                <a:lnTo>
                  <a:pt x="0" y="0"/>
                </a:lnTo>
                <a:close/>
              </a:path>
            </a:pathLst>
          </a:custGeom>
          <a:blipFill>
            <a:blip r:embed="rId4">
              <a:alphaModFix amt="61000"/>
            </a:blip>
            <a:stretch>
              <a:fillRect/>
            </a:stretch>
          </a:blipFill>
        </p:spPr>
      </p:sp>
      <p:sp>
        <p:nvSpPr>
          <p:cNvPr id="5" name="Freeform 5"/>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8741237" y="1404569"/>
            <a:ext cx="10557018" cy="12757725"/>
          </a:xfrm>
          <a:custGeom>
            <a:avLst/>
            <a:gdLst/>
            <a:ahLst/>
            <a:cxnLst/>
            <a:rect l="l" t="t" r="r" b="b"/>
            <a:pathLst>
              <a:path w="10557018" h="12757725">
                <a:moveTo>
                  <a:pt x="10557018" y="0"/>
                </a:moveTo>
                <a:lnTo>
                  <a:pt x="0" y="0"/>
                </a:lnTo>
                <a:lnTo>
                  <a:pt x="0" y="12757725"/>
                </a:lnTo>
                <a:lnTo>
                  <a:pt x="10557018" y="12757725"/>
                </a:lnTo>
                <a:lnTo>
                  <a:pt x="10557018" y="0"/>
                </a:lnTo>
                <a:close/>
              </a:path>
            </a:pathLst>
          </a:custGeom>
          <a:blipFill>
            <a:blip r:embed="rId7"/>
            <a:stretch>
              <a:fillRect/>
            </a:stretch>
          </a:blipFill>
        </p:spPr>
      </p:sp>
      <p:sp>
        <p:nvSpPr>
          <p:cNvPr id="7" name="TextBox 7"/>
          <p:cNvSpPr txBox="1"/>
          <p:nvPr/>
        </p:nvSpPr>
        <p:spPr>
          <a:xfrm>
            <a:off x="4395432" y="551938"/>
            <a:ext cx="10792212" cy="2597557"/>
          </a:xfrm>
          <a:prstGeom prst="rect">
            <a:avLst/>
          </a:prstGeom>
        </p:spPr>
        <p:txBody>
          <a:bodyPr lIns="0" tIns="0" rIns="0" bIns="0" rtlCol="0" anchor="t">
            <a:spAutoFit/>
          </a:bodyPr>
          <a:lstStyle/>
          <a:p>
            <a:pPr algn="l">
              <a:lnSpc>
                <a:spcPts val="10056"/>
              </a:lnSpc>
            </a:pPr>
            <a:r>
              <a:rPr lang="en-US" sz="9487">
                <a:solidFill>
                  <a:srgbClr val="FFFFFF"/>
                </a:solidFill>
                <a:latin typeface="Anton"/>
                <a:ea typeface="Anton"/>
                <a:cs typeface="Anton"/>
                <a:sym typeface="Anton"/>
              </a:rPr>
              <a:t>DATASET OVERVIEW</a:t>
            </a:r>
          </a:p>
          <a:p>
            <a:pPr algn="l">
              <a:lnSpc>
                <a:spcPts val="10056"/>
              </a:lnSpc>
            </a:pPr>
            <a:endParaRPr lang="en-US" sz="9487">
              <a:solidFill>
                <a:srgbClr val="FFFFFF"/>
              </a:solidFill>
              <a:latin typeface="Anton"/>
              <a:ea typeface="Anton"/>
              <a:cs typeface="Anton"/>
              <a:sym typeface="Anton"/>
            </a:endParaRPr>
          </a:p>
        </p:txBody>
      </p:sp>
      <p:sp>
        <p:nvSpPr>
          <p:cNvPr id="8" name="TextBox 8"/>
          <p:cNvSpPr txBox="1"/>
          <p:nvPr/>
        </p:nvSpPr>
        <p:spPr>
          <a:xfrm>
            <a:off x="16780263"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04</a:t>
            </a:r>
          </a:p>
        </p:txBody>
      </p:sp>
      <p:sp>
        <p:nvSpPr>
          <p:cNvPr id="9" name="TextBox 9"/>
          <p:cNvSpPr txBox="1"/>
          <p:nvPr/>
        </p:nvSpPr>
        <p:spPr>
          <a:xfrm>
            <a:off x="1646562" y="1944060"/>
            <a:ext cx="9340684" cy="2315621"/>
          </a:xfrm>
          <a:prstGeom prst="rect">
            <a:avLst/>
          </a:prstGeom>
        </p:spPr>
        <p:txBody>
          <a:bodyPr lIns="0" tIns="0" rIns="0" bIns="0" rtlCol="0" anchor="t">
            <a:spAutoFit/>
          </a:bodyPr>
          <a:lstStyle/>
          <a:p>
            <a:pPr algn="l">
              <a:lnSpc>
                <a:spcPts val="3617"/>
              </a:lnSpc>
              <a:spcBef>
                <a:spcPct val="0"/>
              </a:spcBef>
            </a:pPr>
            <a:r>
              <a:rPr lang="en-US" sz="2583">
                <a:solidFill>
                  <a:srgbClr val="FFFFFF"/>
                </a:solidFill>
                <a:latin typeface="Codec Pro"/>
                <a:ea typeface="Codec Pro"/>
                <a:cs typeface="Codec Pro"/>
                <a:sym typeface="Codec Pro"/>
              </a:rPr>
              <a:t>The Carseats dataset consists of 400 stores and includes key variables that provide insights into store performance. Important columns include Sales, Price, Income, ShelveLoc, and Age, which together help analyze sales trends and customer demographics</a:t>
            </a:r>
          </a:p>
        </p:txBody>
      </p:sp>
      <p:sp>
        <p:nvSpPr>
          <p:cNvPr id="10" name="TextBox 10"/>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1" name="Freeform 11"/>
          <p:cNvSpPr/>
          <p:nvPr/>
        </p:nvSpPr>
        <p:spPr>
          <a:xfrm>
            <a:off x="1535067" y="4576918"/>
            <a:ext cx="11205691" cy="5442764"/>
          </a:xfrm>
          <a:custGeom>
            <a:avLst/>
            <a:gdLst/>
            <a:ahLst/>
            <a:cxnLst/>
            <a:rect l="l" t="t" r="r" b="b"/>
            <a:pathLst>
              <a:path w="11205691" h="5442764">
                <a:moveTo>
                  <a:pt x="0" y="0"/>
                </a:moveTo>
                <a:lnTo>
                  <a:pt x="11205692" y="0"/>
                </a:lnTo>
                <a:lnTo>
                  <a:pt x="11205692" y="5442765"/>
                </a:lnTo>
                <a:lnTo>
                  <a:pt x="0" y="5442765"/>
                </a:lnTo>
                <a:lnTo>
                  <a:pt x="0" y="0"/>
                </a:lnTo>
                <a:close/>
              </a:path>
            </a:pathLst>
          </a:custGeom>
          <a:blipFill>
            <a:blip r:embed="rId8"/>
            <a:stretch>
              <a:fillRect/>
            </a:stretch>
          </a:blipFill>
        </p:spPr>
      </p:sp>
      <p:sp>
        <p:nvSpPr>
          <p:cNvPr id="12" name="Freeform 12"/>
          <p:cNvSpPr/>
          <p:nvPr/>
        </p:nvSpPr>
        <p:spPr>
          <a:xfrm>
            <a:off x="641947" y="428113"/>
            <a:ext cx="639926" cy="768471"/>
          </a:xfrm>
          <a:custGeom>
            <a:avLst/>
            <a:gdLst/>
            <a:ahLst/>
            <a:cxnLst/>
            <a:rect l="l" t="t" r="r" b="b"/>
            <a:pathLst>
              <a:path w="639926" h="768471">
                <a:moveTo>
                  <a:pt x="0" y="0"/>
                </a:moveTo>
                <a:lnTo>
                  <a:pt x="639926" y="0"/>
                </a:lnTo>
                <a:lnTo>
                  <a:pt x="639926" y="768471"/>
                </a:lnTo>
                <a:lnTo>
                  <a:pt x="0" y="76847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1281873" y="471466"/>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117" t="-41920" r="-18932" b="-25458"/>
            </a:stretch>
          </a:blipFill>
        </p:spPr>
      </p:sp>
      <p:sp>
        <p:nvSpPr>
          <p:cNvPr id="3" name="Freeform 3"/>
          <p:cNvSpPr/>
          <p:nvPr/>
        </p:nvSpPr>
        <p:spPr>
          <a:xfrm>
            <a:off x="15338627" y="7224057"/>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663041" y="4526050"/>
            <a:ext cx="8191782" cy="3687222"/>
          </a:xfrm>
          <a:prstGeom prst="rect">
            <a:avLst/>
          </a:prstGeom>
        </p:spPr>
        <p:txBody>
          <a:bodyPr lIns="0" tIns="0" rIns="0" bIns="0" rtlCol="0" anchor="t">
            <a:spAutoFit/>
          </a:bodyPr>
          <a:lstStyle/>
          <a:p>
            <a:pPr algn="l">
              <a:lnSpc>
                <a:spcPts val="3617"/>
              </a:lnSpc>
            </a:pPr>
            <a:r>
              <a:rPr lang="en-US" sz="2583">
                <a:solidFill>
                  <a:srgbClr val="FFFFFF"/>
                </a:solidFill>
                <a:latin typeface="Codec Pro"/>
                <a:ea typeface="Codec Pro"/>
                <a:cs typeface="Codec Pro"/>
                <a:sym typeface="Codec Pro"/>
              </a:rPr>
              <a:t>1.Created target: </a:t>
            </a:r>
          </a:p>
          <a:p>
            <a:pPr algn="l">
              <a:lnSpc>
                <a:spcPts val="3617"/>
              </a:lnSpc>
            </a:pPr>
            <a:r>
              <a:rPr lang="en-US" sz="2583">
                <a:solidFill>
                  <a:srgbClr val="FFFFFF"/>
                </a:solidFill>
                <a:latin typeface="Codec Pro"/>
                <a:ea typeface="Codec Pro"/>
                <a:cs typeface="Codec Pro"/>
                <a:sym typeface="Codec Pro"/>
              </a:rPr>
              <a:t>To classify stores based on their sales performance, I created a binary target variable.  </a:t>
            </a:r>
          </a:p>
          <a:p>
            <a:pPr algn="l">
              <a:lnSpc>
                <a:spcPts val="3617"/>
              </a:lnSpc>
            </a:pPr>
            <a:r>
              <a:rPr lang="en-US" sz="2583">
                <a:solidFill>
                  <a:srgbClr val="FFFFFF"/>
                </a:solidFill>
                <a:latin typeface="Codec Pro"/>
                <a:ea typeface="Codec Pro"/>
                <a:cs typeface="Codec Pro"/>
                <a:sym typeface="Codec Pro"/>
              </a:rPr>
              <a:t>If a store’s sales exceeded 8, it was labeled as ‘High’ (1). Otherwise, it was labeled as ‘Low’ (0).  </a:t>
            </a:r>
          </a:p>
          <a:p>
            <a:pPr algn="l">
              <a:lnSpc>
                <a:spcPts val="3617"/>
              </a:lnSpc>
            </a:pPr>
            <a:r>
              <a:rPr lang="en-US" sz="2583">
                <a:solidFill>
                  <a:srgbClr val="FFFFFF"/>
                </a:solidFill>
                <a:latin typeface="Codec Pro"/>
                <a:ea typeface="Codec Pro"/>
                <a:cs typeface="Codec Pro"/>
                <a:sym typeface="Codec Pro"/>
              </a:rPr>
              <a:t>This clear distinction allows us to effectively train our model to predict sales categories.</a:t>
            </a:r>
          </a:p>
          <a:p>
            <a:pPr algn="l">
              <a:lnSpc>
                <a:spcPts val="3617"/>
              </a:lnSpc>
              <a:spcBef>
                <a:spcPct val="0"/>
              </a:spcBef>
            </a:pPr>
            <a:endParaRPr lang="en-US" sz="2583">
              <a:solidFill>
                <a:srgbClr val="FFFFFF"/>
              </a:solidFill>
              <a:latin typeface="Codec Pro"/>
              <a:ea typeface="Codec Pro"/>
              <a:cs typeface="Codec Pro"/>
              <a:sym typeface="Codec Pro"/>
            </a:endParaRPr>
          </a:p>
        </p:txBody>
      </p:sp>
      <p:sp>
        <p:nvSpPr>
          <p:cNvPr id="5" name="Freeform 5"/>
          <p:cNvSpPr/>
          <p:nvPr/>
        </p:nvSpPr>
        <p:spPr>
          <a:xfrm>
            <a:off x="12675809" y="-43695"/>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3414549" y="4418220"/>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sp>
      <p:sp>
        <p:nvSpPr>
          <p:cNvPr id="7" name="Freeform 7"/>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5553844" y="8196660"/>
            <a:ext cx="10094743" cy="1054675"/>
          </a:xfrm>
          <a:custGeom>
            <a:avLst/>
            <a:gdLst/>
            <a:ahLst/>
            <a:cxnLst/>
            <a:rect l="l" t="t" r="r" b="b"/>
            <a:pathLst>
              <a:path w="10094743" h="1054675">
                <a:moveTo>
                  <a:pt x="0" y="0"/>
                </a:moveTo>
                <a:lnTo>
                  <a:pt x="10094743" y="0"/>
                </a:lnTo>
                <a:lnTo>
                  <a:pt x="10094743" y="1054675"/>
                </a:lnTo>
                <a:lnTo>
                  <a:pt x="0" y="1054675"/>
                </a:lnTo>
                <a:lnTo>
                  <a:pt x="0" y="0"/>
                </a:lnTo>
                <a:close/>
              </a:path>
            </a:pathLst>
          </a:custGeom>
          <a:blipFill>
            <a:blip r:embed="rId8"/>
            <a:stretch>
              <a:fillRect/>
            </a:stretch>
          </a:blipFill>
        </p:spPr>
      </p:sp>
      <p:sp>
        <p:nvSpPr>
          <p:cNvPr id="9" name="TextBox 9"/>
          <p:cNvSpPr txBox="1"/>
          <p:nvPr/>
        </p:nvSpPr>
        <p:spPr>
          <a:xfrm>
            <a:off x="6213283" y="2065029"/>
            <a:ext cx="9670368" cy="2597557"/>
          </a:xfrm>
          <a:prstGeom prst="rect">
            <a:avLst/>
          </a:prstGeom>
        </p:spPr>
        <p:txBody>
          <a:bodyPr lIns="0" tIns="0" rIns="0" bIns="0" rtlCol="0" anchor="t">
            <a:spAutoFit/>
          </a:bodyPr>
          <a:lstStyle/>
          <a:p>
            <a:pPr algn="l">
              <a:lnSpc>
                <a:spcPts val="10056"/>
              </a:lnSpc>
            </a:pPr>
            <a:r>
              <a:rPr lang="en-US" sz="9487">
                <a:solidFill>
                  <a:srgbClr val="FFFFFF"/>
                </a:solidFill>
                <a:latin typeface="Anton"/>
                <a:ea typeface="Anton"/>
                <a:cs typeface="Anton"/>
                <a:sym typeface="Anton"/>
              </a:rPr>
              <a:t> KNN CLASSIFICATION</a:t>
            </a:r>
          </a:p>
          <a:p>
            <a:pPr algn="l">
              <a:lnSpc>
                <a:spcPts val="10056"/>
              </a:lnSpc>
            </a:pPr>
            <a:endParaRPr lang="en-US" sz="9487">
              <a:solidFill>
                <a:srgbClr val="FFFFFF"/>
              </a:solidFill>
              <a:latin typeface="Anton"/>
              <a:ea typeface="Anton"/>
              <a:cs typeface="Anton"/>
              <a:sym typeface="Anton"/>
            </a:endParaRPr>
          </a:p>
        </p:txBody>
      </p:sp>
      <p:sp>
        <p:nvSpPr>
          <p:cNvPr id="10" name="TextBox 10"/>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05</a:t>
            </a:r>
          </a:p>
        </p:txBody>
      </p:sp>
      <p:sp>
        <p:nvSpPr>
          <p:cNvPr id="11" name="TextBox 11"/>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2" name="Freeform 12"/>
          <p:cNvSpPr/>
          <p:nvPr/>
        </p:nvSpPr>
        <p:spPr>
          <a:xfrm>
            <a:off x="4977640" y="456064"/>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5617566" y="499417"/>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117" t="-41920" r="-18932" b="-25458"/>
            </a:stretch>
          </a:blipFill>
        </p:spPr>
      </p:sp>
      <p:sp>
        <p:nvSpPr>
          <p:cNvPr id="3" name="Freeform 3"/>
          <p:cNvSpPr/>
          <p:nvPr/>
        </p:nvSpPr>
        <p:spPr>
          <a:xfrm>
            <a:off x="15338627" y="7224057"/>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663041" y="3374670"/>
            <a:ext cx="8191782" cy="3687222"/>
          </a:xfrm>
          <a:prstGeom prst="rect">
            <a:avLst/>
          </a:prstGeom>
        </p:spPr>
        <p:txBody>
          <a:bodyPr lIns="0" tIns="0" rIns="0" bIns="0" rtlCol="0" anchor="t">
            <a:spAutoFit/>
          </a:bodyPr>
          <a:lstStyle/>
          <a:p>
            <a:pPr algn="l">
              <a:lnSpc>
                <a:spcPts val="3617"/>
              </a:lnSpc>
            </a:pPr>
            <a:r>
              <a:rPr lang="en-US" sz="2583">
                <a:solidFill>
                  <a:srgbClr val="FFFFFF"/>
                </a:solidFill>
                <a:latin typeface="Codec Pro"/>
                <a:ea typeface="Codec Pro"/>
                <a:cs typeface="Codec Pro"/>
                <a:sym typeface="Codec Pro"/>
              </a:rPr>
              <a:t>2. Prepared Feature</a:t>
            </a:r>
          </a:p>
          <a:p>
            <a:pPr algn="l">
              <a:lnSpc>
                <a:spcPts val="3617"/>
              </a:lnSpc>
            </a:pPr>
            <a:r>
              <a:rPr lang="en-US" sz="2583">
                <a:solidFill>
                  <a:srgbClr val="FFFFFF"/>
                </a:solidFill>
                <a:latin typeface="Codec Pro"/>
                <a:ea typeface="Codec Pro"/>
                <a:cs typeface="Codec Pro"/>
                <a:sym typeface="Codec Pro"/>
              </a:rPr>
              <a:t>Next, the features used for classification were prepared. I removed the 'Sales' and 'High' columns to prevent data leakage, focusing only on the relevant features that contribute to the prediction of sales categories.</a:t>
            </a:r>
          </a:p>
          <a:p>
            <a:pPr algn="l">
              <a:lnSpc>
                <a:spcPts val="3617"/>
              </a:lnSpc>
            </a:pPr>
            <a:endParaRPr lang="en-US" sz="2583">
              <a:solidFill>
                <a:srgbClr val="FFFFFF"/>
              </a:solidFill>
              <a:latin typeface="Codec Pro"/>
              <a:ea typeface="Codec Pro"/>
              <a:cs typeface="Codec Pro"/>
              <a:sym typeface="Codec Pro"/>
            </a:endParaRPr>
          </a:p>
          <a:p>
            <a:pPr algn="l">
              <a:lnSpc>
                <a:spcPts val="3617"/>
              </a:lnSpc>
              <a:spcBef>
                <a:spcPct val="0"/>
              </a:spcBef>
            </a:pPr>
            <a:endParaRPr lang="en-US" sz="2583">
              <a:solidFill>
                <a:srgbClr val="FFFFFF"/>
              </a:solidFill>
              <a:latin typeface="Codec Pro"/>
              <a:ea typeface="Codec Pro"/>
              <a:cs typeface="Codec Pro"/>
              <a:sym typeface="Codec Pro"/>
            </a:endParaRPr>
          </a:p>
        </p:txBody>
      </p:sp>
      <p:sp>
        <p:nvSpPr>
          <p:cNvPr id="5" name="Freeform 5"/>
          <p:cNvSpPr/>
          <p:nvPr/>
        </p:nvSpPr>
        <p:spPr>
          <a:xfrm>
            <a:off x="12675809" y="-43695"/>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6332761" y="6421352"/>
            <a:ext cx="9754680" cy="2669439"/>
          </a:xfrm>
          <a:custGeom>
            <a:avLst/>
            <a:gdLst/>
            <a:ahLst/>
            <a:cxnLst/>
            <a:rect l="l" t="t" r="r" b="b"/>
            <a:pathLst>
              <a:path w="9754680" h="2669439">
                <a:moveTo>
                  <a:pt x="0" y="0"/>
                </a:moveTo>
                <a:lnTo>
                  <a:pt x="9754680" y="0"/>
                </a:lnTo>
                <a:lnTo>
                  <a:pt x="9754680" y="2669439"/>
                </a:lnTo>
                <a:lnTo>
                  <a:pt x="0" y="2669439"/>
                </a:lnTo>
                <a:lnTo>
                  <a:pt x="0" y="0"/>
                </a:lnTo>
                <a:close/>
              </a:path>
            </a:pathLst>
          </a:custGeom>
          <a:blipFill>
            <a:blip r:embed="rId7"/>
            <a:stretch>
              <a:fillRect/>
            </a:stretch>
          </a:blipFill>
        </p:spPr>
      </p:sp>
      <p:sp>
        <p:nvSpPr>
          <p:cNvPr id="8" name="TextBox 8"/>
          <p:cNvSpPr txBox="1"/>
          <p:nvPr/>
        </p:nvSpPr>
        <p:spPr>
          <a:xfrm>
            <a:off x="6213283" y="2065029"/>
            <a:ext cx="9670368" cy="2597557"/>
          </a:xfrm>
          <a:prstGeom prst="rect">
            <a:avLst/>
          </a:prstGeom>
        </p:spPr>
        <p:txBody>
          <a:bodyPr lIns="0" tIns="0" rIns="0" bIns="0" rtlCol="0" anchor="t">
            <a:spAutoFit/>
          </a:bodyPr>
          <a:lstStyle/>
          <a:p>
            <a:pPr algn="l">
              <a:lnSpc>
                <a:spcPts val="10056"/>
              </a:lnSpc>
            </a:pPr>
            <a:r>
              <a:rPr lang="en-US" sz="9487">
                <a:solidFill>
                  <a:srgbClr val="FFFFFF"/>
                </a:solidFill>
                <a:latin typeface="Anton"/>
                <a:ea typeface="Anton"/>
                <a:cs typeface="Anton"/>
                <a:sym typeface="Anton"/>
              </a:rPr>
              <a:t> KNN CLASSIFICATION</a:t>
            </a:r>
          </a:p>
          <a:p>
            <a:pPr algn="l">
              <a:lnSpc>
                <a:spcPts val="10056"/>
              </a:lnSpc>
            </a:pPr>
            <a:endParaRPr lang="en-US" sz="9487">
              <a:solidFill>
                <a:srgbClr val="FFFFFF"/>
              </a:solidFill>
              <a:latin typeface="Anton"/>
              <a:ea typeface="Anton"/>
              <a:cs typeface="Anton"/>
              <a:sym typeface="Anton"/>
            </a:endParaRPr>
          </a:p>
        </p:txBody>
      </p:sp>
      <p:sp>
        <p:nvSpPr>
          <p:cNvPr id="9" name="TextBox 9"/>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06</a:t>
            </a:r>
          </a:p>
        </p:txBody>
      </p:sp>
      <p:sp>
        <p:nvSpPr>
          <p:cNvPr id="10" name="TextBox 10"/>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1" name="Freeform 11"/>
          <p:cNvSpPr/>
          <p:nvPr/>
        </p:nvSpPr>
        <p:spPr>
          <a:xfrm>
            <a:off x="4589089" y="488319"/>
            <a:ext cx="639926" cy="768471"/>
          </a:xfrm>
          <a:custGeom>
            <a:avLst/>
            <a:gdLst/>
            <a:ahLst/>
            <a:cxnLst/>
            <a:rect l="l" t="t" r="r" b="b"/>
            <a:pathLst>
              <a:path w="639926" h="768471">
                <a:moveTo>
                  <a:pt x="0" y="0"/>
                </a:moveTo>
                <a:lnTo>
                  <a:pt x="639926" y="0"/>
                </a:lnTo>
                <a:lnTo>
                  <a:pt x="639926" y="768471"/>
                </a:lnTo>
                <a:lnTo>
                  <a:pt x="0" y="76847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5229015" y="531672"/>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117" t="-41920" r="-18932" b="-25458"/>
            </a:stretch>
          </a:blipFill>
        </p:spPr>
      </p:sp>
      <p:sp>
        <p:nvSpPr>
          <p:cNvPr id="3" name="Freeform 3"/>
          <p:cNvSpPr/>
          <p:nvPr/>
        </p:nvSpPr>
        <p:spPr>
          <a:xfrm>
            <a:off x="15338627" y="7224057"/>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663041" y="3824427"/>
            <a:ext cx="8191782" cy="4144422"/>
          </a:xfrm>
          <a:prstGeom prst="rect">
            <a:avLst/>
          </a:prstGeom>
        </p:spPr>
        <p:txBody>
          <a:bodyPr lIns="0" tIns="0" rIns="0" bIns="0" rtlCol="0" anchor="t">
            <a:spAutoFit/>
          </a:bodyPr>
          <a:lstStyle/>
          <a:p>
            <a:pPr algn="l">
              <a:lnSpc>
                <a:spcPts val="3617"/>
              </a:lnSpc>
            </a:pPr>
            <a:r>
              <a:rPr lang="en-US" sz="2583">
                <a:solidFill>
                  <a:srgbClr val="FFFFFF"/>
                </a:solidFill>
                <a:latin typeface="Codec Pro"/>
                <a:ea typeface="Codec Pro"/>
                <a:cs typeface="Codec Pro"/>
                <a:sym typeface="Codec Pro"/>
              </a:rPr>
              <a:t>3.Encoded categorical variables (text to numbers):</a:t>
            </a:r>
          </a:p>
          <a:p>
            <a:pPr algn="l">
              <a:lnSpc>
                <a:spcPts val="3617"/>
              </a:lnSpc>
            </a:pPr>
            <a:r>
              <a:rPr lang="en-US" sz="2583">
                <a:solidFill>
                  <a:srgbClr val="FFFFFF"/>
                </a:solidFill>
                <a:latin typeface="Codec Pro"/>
                <a:ea typeface="Codec Pro"/>
                <a:cs typeface="Codec Pro"/>
                <a:sym typeface="Codec Pro"/>
              </a:rPr>
              <a:t>Since the dataset included categorical variables, I encoded these variables to convert them from text format into numerical format. This step is crucial for KNN, as it requires all input features to be in numerical form for effective calculations.</a:t>
            </a:r>
          </a:p>
          <a:p>
            <a:pPr algn="l">
              <a:lnSpc>
                <a:spcPts val="3617"/>
              </a:lnSpc>
            </a:pPr>
            <a:endParaRPr lang="en-US" sz="2583">
              <a:solidFill>
                <a:srgbClr val="FFFFFF"/>
              </a:solidFill>
              <a:latin typeface="Codec Pro"/>
              <a:ea typeface="Codec Pro"/>
              <a:cs typeface="Codec Pro"/>
              <a:sym typeface="Codec Pro"/>
            </a:endParaRPr>
          </a:p>
          <a:p>
            <a:pPr algn="l">
              <a:lnSpc>
                <a:spcPts val="3617"/>
              </a:lnSpc>
            </a:pPr>
            <a:endParaRPr lang="en-US" sz="2583">
              <a:solidFill>
                <a:srgbClr val="FFFFFF"/>
              </a:solidFill>
              <a:latin typeface="Codec Pro"/>
              <a:ea typeface="Codec Pro"/>
              <a:cs typeface="Codec Pro"/>
              <a:sym typeface="Codec Pro"/>
            </a:endParaRPr>
          </a:p>
          <a:p>
            <a:pPr algn="l">
              <a:lnSpc>
                <a:spcPts val="3617"/>
              </a:lnSpc>
              <a:spcBef>
                <a:spcPct val="0"/>
              </a:spcBef>
            </a:pPr>
            <a:endParaRPr lang="en-US" sz="2583">
              <a:solidFill>
                <a:srgbClr val="FFFFFF"/>
              </a:solidFill>
              <a:latin typeface="Codec Pro"/>
              <a:ea typeface="Codec Pro"/>
              <a:cs typeface="Codec Pro"/>
              <a:sym typeface="Codec Pro"/>
            </a:endParaRPr>
          </a:p>
        </p:txBody>
      </p:sp>
      <p:sp>
        <p:nvSpPr>
          <p:cNvPr id="5" name="Freeform 5"/>
          <p:cNvSpPr/>
          <p:nvPr/>
        </p:nvSpPr>
        <p:spPr>
          <a:xfrm>
            <a:off x="12675809" y="-43695"/>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3811478" y="5458262"/>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sp>
      <p:sp>
        <p:nvSpPr>
          <p:cNvPr id="7" name="Freeform 7"/>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5639359" y="7843533"/>
            <a:ext cx="9897161" cy="889107"/>
          </a:xfrm>
          <a:custGeom>
            <a:avLst/>
            <a:gdLst/>
            <a:ahLst/>
            <a:cxnLst/>
            <a:rect l="l" t="t" r="r" b="b"/>
            <a:pathLst>
              <a:path w="9897161" h="889107">
                <a:moveTo>
                  <a:pt x="0" y="0"/>
                </a:moveTo>
                <a:lnTo>
                  <a:pt x="9897162" y="0"/>
                </a:lnTo>
                <a:lnTo>
                  <a:pt x="9897162" y="889106"/>
                </a:lnTo>
                <a:lnTo>
                  <a:pt x="0" y="889106"/>
                </a:lnTo>
                <a:lnTo>
                  <a:pt x="0" y="0"/>
                </a:lnTo>
                <a:close/>
              </a:path>
            </a:pathLst>
          </a:custGeom>
          <a:blipFill>
            <a:blip r:embed="rId8"/>
            <a:stretch>
              <a:fillRect/>
            </a:stretch>
          </a:blipFill>
        </p:spPr>
      </p:sp>
      <p:sp>
        <p:nvSpPr>
          <p:cNvPr id="9" name="TextBox 9"/>
          <p:cNvSpPr txBox="1"/>
          <p:nvPr/>
        </p:nvSpPr>
        <p:spPr>
          <a:xfrm>
            <a:off x="6213283" y="2065029"/>
            <a:ext cx="9670368" cy="2597557"/>
          </a:xfrm>
          <a:prstGeom prst="rect">
            <a:avLst/>
          </a:prstGeom>
        </p:spPr>
        <p:txBody>
          <a:bodyPr lIns="0" tIns="0" rIns="0" bIns="0" rtlCol="0" anchor="t">
            <a:spAutoFit/>
          </a:bodyPr>
          <a:lstStyle/>
          <a:p>
            <a:pPr algn="l">
              <a:lnSpc>
                <a:spcPts val="10056"/>
              </a:lnSpc>
            </a:pPr>
            <a:r>
              <a:rPr lang="en-US" sz="9487">
                <a:solidFill>
                  <a:srgbClr val="FFFFFF"/>
                </a:solidFill>
                <a:latin typeface="Anton"/>
                <a:ea typeface="Anton"/>
                <a:cs typeface="Anton"/>
                <a:sym typeface="Anton"/>
              </a:rPr>
              <a:t> KNN CLASSIFICATION</a:t>
            </a:r>
          </a:p>
          <a:p>
            <a:pPr algn="l">
              <a:lnSpc>
                <a:spcPts val="10056"/>
              </a:lnSpc>
            </a:pPr>
            <a:endParaRPr lang="en-US" sz="9487">
              <a:solidFill>
                <a:srgbClr val="FFFFFF"/>
              </a:solidFill>
              <a:latin typeface="Anton"/>
              <a:ea typeface="Anton"/>
              <a:cs typeface="Anton"/>
              <a:sym typeface="Anton"/>
            </a:endParaRPr>
          </a:p>
        </p:txBody>
      </p:sp>
      <p:sp>
        <p:nvSpPr>
          <p:cNvPr id="10" name="TextBox 10"/>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07</a:t>
            </a:r>
          </a:p>
        </p:txBody>
      </p:sp>
      <p:sp>
        <p:nvSpPr>
          <p:cNvPr id="11" name="TextBox 11"/>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2" name="Freeform 12"/>
          <p:cNvSpPr/>
          <p:nvPr/>
        </p:nvSpPr>
        <p:spPr>
          <a:xfrm>
            <a:off x="4967429" y="364878"/>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5607355" y="408231"/>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117" t="-41920" r="-18932" b="-25458"/>
            </a:stretch>
          </a:blipFill>
        </p:spPr>
      </p:sp>
      <p:sp>
        <p:nvSpPr>
          <p:cNvPr id="3" name="Freeform 3"/>
          <p:cNvSpPr/>
          <p:nvPr/>
        </p:nvSpPr>
        <p:spPr>
          <a:xfrm>
            <a:off x="15338627" y="7224057"/>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663041" y="3611650"/>
            <a:ext cx="8191782" cy="4144422"/>
          </a:xfrm>
          <a:prstGeom prst="rect">
            <a:avLst/>
          </a:prstGeom>
        </p:spPr>
        <p:txBody>
          <a:bodyPr lIns="0" tIns="0" rIns="0" bIns="0" rtlCol="0" anchor="t">
            <a:spAutoFit/>
          </a:bodyPr>
          <a:lstStyle/>
          <a:p>
            <a:pPr algn="l">
              <a:lnSpc>
                <a:spcPts val="3617"/>
              </a:lnSpc>
            </a:pPr>
            <a:r>
              <a:rPr lang="en-US" sz="2583">
                <a:solidFill>
                  <a:srgbClr val="FFFFFF"/>
                </a:solidFill>
                <a:latin typeface="Codec Pro"/>
                <a:ea typeface="Codec Pro"/>
                <a:cs typeface="Codec Pro"/>
                <a:sym typeface="Codec Pro"/>
              </a:rPr>
              <a:t>4.Split Data</a:t>
            </a:r>
          </a:p>
          <a:p>
            <a:pPr algn="l">
              <a:lnSpc>
                <a:spcPts val="3617"/>
              </a:lnSpc>
            </a:pPr>
            <a:r>
              <a:rPr lang="en-US" sz="2583">
                <a:solidFill>
                  <a:srgbClr val="FFFFFF"/>
                </a:solidFill>
                <a:latin typeface="Codec Pro"/>
                <a:ea typeface="Codec Pro"/>
                <a:cs typeface="Codec Pro"/>
                <a:sym typeface="Codec Pro"/>
              </a:rPr>
              <a:t>I split the dataset into training and testing subsets, allocating 70% of the data for training the model and 30% for testing its performance. This split is essential for evaluating the model's accuracy and generalizability.</a:t>
            </a:r>
          </a:p>
          <a:p>
            <a:pPr algn="l">
              <a:lnSpc>
                <a:spcPts val="3617"/>
              </a:lnSpc>
            </a:pPr>
            <a:endParaRPr lang="en-US" sz="2583">
              <a:solidFill>
                <a:srgbClr val="FFFFFF"/>
              </a:solidFill>
              <a:latin typeface="Codec Pro"/>
              <a:ea typeface="Codec Pro"/>
              <a:cs typeface="Codec Pro"/>
              <a:sym typeface="Codec Pro"/>
            </a:endParaRPr>
          </a:p>
          <a:p>
            <a:pPr algn="l">
              <a:lnSpc>
                <a:spcPts val="3617"/>
              </a:lnSpc>
            </a:pPr>
            <a:endParaRPr lang="en-US" sz="2583">
              <a:solidFill>
                <a:srgbClr val="FFFFFF"/>
              </a:solidFill>
              <a:latin typeface="Codec Pro"/>
              <a:ea typeface="Codec Pro"/>
              <a:cs typeface="Codec Pro"/>
              <a:sym typeface="Codec Pro"/>
            </a:endParaRPr>
          </a:p>
          <a:p>
            <a:pPr algn="l">
              <a:lnSpc>
                <a:spcPts val="3617"/>
              </a:lnSpc>
              <a:spcBef>
                <a:spcPct val="0"/>
              </a:spcBef>
            </a:pPr>
            <a:endParaRPr lang="en-US" sz="2583">
              <a:solidFill>
                <a:srgbClr val="FFFFFF"/>
              </a:solidFill>
              <a:latin typeface="Codec Pro"/>
              <a:ea typeface="Codec Pro"/>
              <a:cs typeface="Codec Pro"/>
              <a:sym typeface="Codec Pro"/>
            </a:endParaRPr>
          </a:p>
        </p:txBody>
      </p:sp>
      <p:sp>
        <p:nvSpPr>
          <p:cNvPr id="5" name="Freeform 5"/>
          <p:cNvSpPr/>
          <p:nvPr/>
        </p:nvSpPr>
        <p:spPr>
          <a:xfrm>
            <a:off x="12675809" y="-43695"/>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3811478" y="5458262"/>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sp>
      <p:sp>
        <p:nvSpPr>
          <p:cNvPr id="7" name="Freeform 7"/>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6001117" y="7224057"/>
            <a:ext cx="10086324" cy="1641457"/>
          </a:xfrm>
          <a:custGeom>
            <a:avLst/>
            <a:gdLst/>
            <a:ahLst/>
            <a:cxnLst/>
            <a:rect l="l" t="t" r="r" b="b"/>
            <a:pathLst>
              <a:path w="10086324" h="1641457">
                <a:moveTo>
                  <a:pt x="0" y="0"/>
                </a:moveTo>
                <a:lnTo>
                  <a:pt x="10086324" y="0"/>
                </a:lnTo>
                <a:lnTo>
                  <a:pt x="10086324" y="1641457"/>
                </a:lnTo>
                <a:lnTo>
                  <a:pt x="0" y="1641457"/>
                </a:lnTo>
                <a:lnTo>
                  <a:pt x="0" y="0"/>
                </a:lnTo>
                <a:close/>
              </a:path>
            </a:pathLst>
          </a:custGeom>
          <a:blipFill>
            <a:blip r:embed="rId8"/>
            <a:stretch>
              <a:fillRect/>
            </a:stretch>
          </a:blipFill>
        </p:spPr>
      </p:sp>
      <p:sp>
        <p:nvSpPr>
          <p:cNvPr id="9" name="TextBox 9"/>
          <p:cNvSpPr txBox="1"/>
          <p:nvPr/>
        </p:nvSpPr>
        <p:spPr>
          <a:xfrm>
            <a:off x="6213283" y="2065029"/>
            <a:ext cx="9670368" cy="2597557"/>
          </a:xfrm>
          <a:prstGeom prst="rect">
            <a:avLst/>
          </a:prstGeom>
        </p:spPr>
        <p:txBody>
          <a:bodyPr lIns="0" tIns="0" rIns="0" bIns="0" rtlCol="0" anchor="t">
            <a:spAutoFit/>
          </a:bodyPr>
          <a:lstStyle/>
          <a:p>
            <a:pPr algn="l">
              <a:lnSpc>
                <a:spcPts val="10056"/>
              </a:lnSpc>
            </a:pPr>
            <a:r>
              <a:rPr lang="en-US" sz="9487">
                <a:solidFill>
                  <a:srgbClr val="FFFFFF"/>
                </a:solidFill>
                <a:latin typeface="Anton"/>
                <a:ea typeface="Anton"/>
                <a:cs typeface="Anton"/>
                <a:sym typeface="Anton"/>
              </a:rPr>
              <a:t> KNN CLASSIFICATION</a:t>
            </a:r>
          </a:p>
          <a:p>
            <a:pPr algn="l">
              <a:lnSpc>
                <a:spcPts val="10056"/>
              </a:lnSpc>
            </a:pPr>
            <a:endParaRPr lang="en-US" sz="9487">
              <a:solidFill>
                <a:srgbClr val="FFFFFF"/>
              </a:solidFill>
              <a:latin typeface="Anton"/>
              <a:ea typeface="Anton"/>
              <a:cs typeface="Anton"/>
              <a:sym typeface="Anton"/>
            </a:endParaRPr>
          </a:p>
        </p:txBody>
      </p:sp>
      <p:sp>
        <p:nvSpPr>
          <p:cNvPr id="10" name="TextBox 10"/>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08</a:t>
            </a:r>
          </a:p>
        </p:txBody>
      </p:sp>
      <p:sp>
        <p:nvSpPr>
          <p:cNvPr id="11" name="TextBox 11"/>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2" name="Freeform 12"/>
          <p:cNvSpPr/>
          <p:nvPr/>
        </p:nvSpPr>
        <p:spPr>
          <a:xfrm>
            <a:off x="5417187" y="364878"/>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6057113" y="408231"/>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117" t="-41920" r="-18932" b="-25458"/>
            </a:stretch>
          </a:blipFill>
        </p:spPr>
      </p:sp>
      <p:sp>
        <p:nvSpPr>
          <p:cNvPr id="3" name="Freeform 3"/>
          <p:cNvSpPr/>
          <p:nvPr/>
        </p:nvSpPr>
        <p:spPr>
          <a:xfrm>
            <a:off x="15338627" y="7224057"/>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213283" y="3411592"/>
            <a:ext cx="7165315" cy="3227607"/>
          </a:xfrm>
          <a:prstGeom prst="rect">
            <a:avLst/>
          </a:prstGeom>
        </p:spPr>
        <p:txBody>
          <a:bodyPr lIns="0" tIns="0" rIns="0" bIns="0" rtlCol="0" anchor="t">
            <a:spAutoFit/>
          </a:bodyPr>
          <a:lstStyle/>
          <a:p>
            <a:pPr algn="l">
              <a:lnSpc>
                <a:spcPts val="3164"/>
              </a:lnSpc>
            </a:pPr>
            <a:r>
              <a:rPr lang="en-US" sz="2260">
                <a:solidFill>
                  <a:srgbClr val="FFFFFF"/>
                </a:solidFill>
                <a:latin typeface="Codec Pro"/>
                <a:ea typeface="Codec Pro"/>
                <a:cs typeface="Codec Pro"/>
                <a:sym typeface="Codec Pro"/>
              </a:rPr>
              <a:t>5.Normalized data</a:t>
            </a:r>
          </a:p>
          <a:p>
            <a:pPr algn="l">
              <a:lnSpc>
                <a:spcPts val="3164"/>
              </a:lnSpc>
            </a:pPr>
            <a:r>
              <a:rPr lang="en-US" sz="2260">
                <a:solidFill>
                  <a:srgbClr val="FFFFFF"/>
                </a:solidFill>
                <a:latin typeface="Codec Pro"/>
                <a:ea typeface="Codec Pro"/>
                <a:cs typeface="Codec Pro"/>
                <a:sym typeface="Codec Pro"/>
              </a:rPr>
              <a:t>To ensure that all features contribute</a:t>
            </a:r>
          </a:p>
          <a:p>
            <a:pPr algn="l">
              <a:lnSpc>
                <a:spcPts val="3164"/>
              </a:lnSpc>
            </a:pPr>
            <a:r>
              <a:rPr lang="en-US" sz="2260">
                <a:solidFill>
                  <a:srgbClr val="FFFFFF"/>
                </a:solidFill>
                <a:latin typeface="Codec Pro"/>
                <a:ea typeface="Codec Pro"/>
                <a:cs typeface="Codec Pro"/>
                <a:sym typeface="Codec Pro"/>
              </a:rPr>
              <a:t>equally to the distance calculations in KNN,I</a:t>
            </a:r>
          </a:p>
          <a:p>
            <a:pPr algn="l">
              <a:lnSpc>
                <a:spcPts val="3164"/>
              </a:lnSpc>
            </a:pPr>
            <a:r>
              <a:rPr lang="en-US" sz="2260">
                <a:solidFill>
                  <a:srgbClr val="FFFFFF"/>
                </a:solidFill>
                <a:latin typeface="Codec Pro"/>
                <a:ea typeface="Codec Pro"/>
                <a:cs typeface="Codec Pro"/>
                <a:sym typeface="Codec Pro"/>
              </a:rPr>
              <a:t>normalized the data.Normalization rescales</a:t>
            </a:r>
          </a:p>
          <a:p>
            <a:pPr algn="l">
              <a:lnSpc>
                <a:spcPts val="3164"/>
              </a:lnSpc>
            </a:pPr>
            <a:r>
              <a:rPr lang="en-US" sz="2260">
                <a:solidFill>
                  <a:srgbClr val="FFFFFF"/>
                </a:solidFill>
                <a:latin typeface="Codec Pro"/>
                <a:ea typeface="Codec Pro"/>
                <a:cs typeface="Codec Pro"/>
                <a:sym typeface="Codec Pro"/>
              </a:rPr>
              <a:t>the values of the features to a common</a:t>
            </a:r>
          </a:p>
          <a:p>
            <a:pPr algn="l">
              <a:lnSpc>
                <a:spcPts val="3164"/>
              </a:lnSpc>
            </a:pPr>
            <a:r>
              <a:rPr lang="en-US" sz="2260">
                <a:solidFill>
                  <a:srgbClr val="FFFFFF"/>
                </a:solidFill>
                <a:latin typeface="Codec Pro"/>
                <a:ea typeface="Codec Pro"/>
                <a:cs typeface="Codec Pro"/>
                <a:sym typeface="Codec Pro"/>
              </a:rPr>
              <a:t>scale, preventing any single feature from</a:t>
            </a:r>
          </a:p>
          <a:p>
            <a:pPr algn="l">
              <a:lnSpc>
                <a:spcPts val="3164"/>
              </a:lnSpc>
            </a:pPr>
            <a:r>
              <a:rPr lang="en-US" sz="2260">
                <a:solidFill>
                  <a:srgbClr val="FFFFFF"/>
                </a:solidFill>
                <a:latin typeface="Codec Pro"/>
                <a:ea typeface="Codec Pro"/>
                <a:cs typeface="Codec Pro"/>
                <a:sym typeface="Codec Pro"/>
              </a:rPr>
              <a:t>dominating the distance computation.</a:t>
            </a:r>
          </a:p>
          <a:p>
            <a:pPr algn="l">
              <a:lnSpc>
                <a:spcPts val="3164"/>
              </a:lnSpc>
              <a:spcBef>
                <a:spcPct val="0"/>
              </a:spcBef>
            </a:pPr>
            <a:endParaRPr lang="en-US" sz="2260">
              <a:solidFill>
                <a:srgbClr val="FFFFFF"/>
              </a:solidFill>
              <a:latin typeface="Codec Pro"/>
              <a:ea typeface="Codec Pro"/>
              <a:cs typeface="Codec Pro"/>
              <a:sym typeface="Codec Pro"/>
            </a:endParaRPr>
          </a:p>
        </p:txBody>
      </p:sp>
      <p:sp>
        <p:nvSpPr>
          <p:cNvPr id="5" name="Freeform 5"/>
          <p:cNvSpPr/>
          <p:nvPr/>
        </p:nvSpPr>
        <p:spPr>
          <a:xfrm>
            <a:off x="12675809" y="-43695"/>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3811478" y="5458262"/>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sp>
      <p:sp>
        <p:nvSpPr>
          <p:cNvPr id="7" name="Freeform 7"/>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6259364" y="6639199"/>
            <a:ext cx="10163513" cy="1714627"/>
          </a:xfrm>
          <a:custGeom>
            <a:avLst/>
            <a:gdLst/>
            <a:ahLst/>
            <a:cxnLst/>
            <a:rect l="l" t="t" r="r" b="b"/>
            <a:pathLst>
              <a:path w="10163513" h="1714627">
                <a:moveTo>
                  <a:pt x="0" y="0"/>
                </a:moveTo>
                <a:lnTo>
                  <a:pt x="10163513" y="0"/>
                </a:lnTo>
                <a:lnTo>
                  <a:pt x="10163513" y="1714627"/>
                </a:lnTo>
                <a:lnTo>
                  <a:pt x="0" y="1714627"/>
                </a:lnTo>
                <a:lnTo>
                  <a:pt x="0" y="0"/>
                </a:lnTo>
                <a:close/>
              </a:path>
            </a:pathLst>
          </a:custGeom>
          <a:blipFill>
            <a:blip r:embed="rId8"/>
            <a:stretch>
              <a:fillRect/>
            </a:stretch>
          </a:blipFill>
        </p:spPr>
      </p:sp>
      <p:sp>
        <p:nvSpPr>
          <p:cNvPr id="9" name="TextBox 9"/>
          <p:cNvSpPr txBox="1"/>
          <p:nvPr/>
        </p:nvSpPr>
        <p:spPr>
          <a:xfrm>
            <a:off x="6213283" y="2065029"/>
            <a:ext cx="9670368" cy="2597557"/>
          </a:xfrm>
          <a:prstGeom prst="rect">
            <a:avLst/>
          </a:prstGeom>
        </p:spPr>
        <p:txBody>
          <a:bodyPr lIns="0" tIns="0" rIns="0" bIns="0" rtlCol="0" anchor="t">
            <a:spAutoFit/>
          </a:bodyPr>
          <a:lstStyle/>
          <a:p>
            <a:pPr algn="l">
              <a:lnSpc>
                <a:spcPts val="10056"/>
              </a:lnSpc>
            </a:pPr>
            <a:r>
              <a:rPr lang="en-US" sz="9487">
                <a:solidFill>
                  <a:srgbClr val="FFFFFF"/>
                </a:solidFill>
                <a:latin typeface="Anton"/>
                <a:ea typeface="Anton"/>
                <a:cs typeface="Anton"/>
                <a:sym typeface="Anton"/>
              </a:rPr>
              <a:t> KNN CLASSIFICATION</a:t>
            </a:r>
          </a:p>
          <a:p>
            <a:pPr algn="l">
              <a:lnSpc>
                <a:spcPts val="10056"/>
              </a:lnSpc>
            </a:pPr>
            <a:endParaRPr lang="en-US" sz="9487">
              <a:solidFill>
                <a:srgbClr val="FFFFFF"/>
              </a:solidFill>
              <a:latin typeface="Anton"/>
              <a:ea typeface="Anton"/>
              <a:cs typeface="Anton"/>
              <a:sym typeface="Anton"/>
            </a:endParaRPr>
          </a:p>
        </p:txBody>
      </p:sp>
      <p:sp>
        <p:nvSpPr>
          <p:cNvPr id="10" name="TextBox 10"/>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09</a:t>
            </a:r>
          </a:p>
        </p:txBody>
      </p:sp>
      <p:sp>
        <p:nvSpPr>
          <p:cNvPr id="11" name="TextBox 11"/>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2" name="Freeform 12"/>
          <p:cNvSpPr/>
          <p:nvPr/>
        </p:nvSpPr>
        <p:spPr>
          <a:xfrm>
            <a:off x="6213283" y="507278"/>
            <a:ext cx="639926" cy="768471"/>
          </a:xfrm>
          <a:custGeom>
            <a:avLst/>
            <a:gdLst/>
            <a:ahLst/>
            <a:cxnLst/>
            <a:rect l="l" t="t" r="r" b="b"/>
            <a:pathLst>
              <a:path w="639926" h="768471">
                <a:moveTo>
                  <a:pt x="0" y="0"/>
                </a:moveTo>
                <a:lnTo>
                  <a:pt x="639926" y="0"/>
                </a:lnTo>
                <a:lnTo>
                  <a:pt x="639926" y="768471"/>
                </a:lnTo>
                <a:lnTo>
                  <a:pt x="0" y="76847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6853209" y="550632"/>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117" t="-41920" r="-18932" b="-25458"/>
            </a:stretch>
          </a:blipFill>
        </p:spPr>
      </p:sp>
      <p:sp>
        <p:nvSpPr>
          <p:cNvPr id="3" name="Freeform 3"/>
          <p:cNvSpPr/>
          <p:nvPr/>
        </p:nvSpPr>
        <p:spPr>
          <a:xfrm>
            <a:off x="15338627" y="7224057"/>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483138" y="3447573"/>
            <a:ext cx="7165315" cy="2827696"/>
          </a:xfrm>
          <a:prstGeom prst="rect">
            <a:avLst/>
          </a:prstGeom>
        </p:spPr>
        <p:txBody>
          <a:bodyPr lIns="0" tIns="0" rIns="0" bIns="0" rtlCol="0" anchor="t">
            <a:spAutoFit/>
          </a:bodyPr>
          <a:lstStyle/>
          <a:p>
            <a:pPr algn="l">
              <a:lnSpc>
                <a:spcPts val="3164"/>
              </a:lnSpc>
            </a:pPr>
            <a:r>
              <a:rPr lang="en-US" sz="2260">
                <a:solidFill>
                  <a:srgbClr val="FFFFFF"/>
                </a:solidFill>
                <a:latin typeface="Codec Pro"/>
                <a:ea typeface="Codec Pro"/>
                <a:cs typeface="Codec Pro"/>
                <a:sym typeface="Codec Pro"/>
              </a:rPr>
              <a:t>6.Trained KNN with different k values:</a:t>
            </a:r>
          </a:p>
          <a:p>
            <a:pPr algn="l">
              <a:lnSpc>
                <a:spcPts val="3164"/>
              </a:lnSpc>
              <a:spcBef>
                <a:spcPct val="0"/>
              </a:spcBef>
            </a:pPr>
            <a:r>
              <a:rPr lang="en-US" sz="2260">
                <a:solidFill>
                  <a:srgbClr val="FFFFFF"/>
                </a:solidFill>
                <a:latin typeface="Codec Pro"/>
                <a:ea typeface="Codec Pro"/>
                <a:cs typeface="Codec Pro"/>
                <a:sym typeface="Codec Pro"/>
              </a:rPr>
              <a:t>Finally, I trained the KNN algorithm using different values of k, which represents the number of nearest neighbors considered for classification. By experimenting with various k values, I aimed to find the optimal number that maximizes classification accuracy.</a:t>
            </a:r>
          </a:p>
        </p:txBody>
      </p:sp>
      <p:sp>
        <p:nvSpPr>
          <p:cNvPr id="5" name="Freeform 5"/>
          <p:cNvSpPr/>
          <p:nvPr/>
        </p:nvSpPr>
        <p:spPr>
          <a:xfrm>
            <a:off x="12675809" y="-43695"/>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3811478" y="5458262"/>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sp>
      <p:sp>
        <p:nvSpPr>
          <p:cNvPr id="7" name="Freeform 7"/>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6213283" y="6469407"/>
            <a:ext cx="9754680" cy="3392932"/>
          </a:xfrm>
          <a:custGeom>
            <a:avLst/>
            <a:gdLst/>
            <a:ahLst/>
            <a:cxnLst/>
            <a:rect l="l" t="t" r="r" b="b"/>
            <a:pathLst>
              <a:path w="9754680" h="3392932">
                <a:moveTo>
                  <a:pt x="0" y="0"/>
                </a:moveTo>
                <a:lnTo>
                  <a:pt x="9754680" y="0"/>
                </a:lnTo>
                <a:lnTo>
                  <a:pt x="9754680" y="3392932"/>
                </a:lnTo>
                <a:lnTo>
                  <a:pt x="0" y="3392932"/>
                </a:lnTo>
                <a:lnTo>
                  <a:pt x="0" y="0"/>
                </a:lnTo>
                <a:close/>
              </a:path>
            </a:pathLst>
          </a:custGeom>
          <a:blipFill>
            <a:blip r:embed="rId8"/>
            <a:stretch>
              <a:fillRect/>
            </a:stretch>
          </a:blipFill>
        </p:spPr>
      </p:sp>
      <p:sp>
        <p:nvSpPr>
          <p:cNvPr id="9" name="TextBox 9"/>
          <p:cNvSpPr txBox="1"/>
          <p:nvPr/>
        </p:nvSpPr>
        <p:spPr>
          <a:xfrm>
            <a:off x="6213283" y="2065029"/>
            <a:ext cx="9670368" cy="2597557"/>
          </a:xfrm>
          <a:prstGeom prst="rect">
            <a:avLst/>
          </a:prstGeom>
        </p:spPr>
        <p:txBody>
          <a:bodyPr lIns="0" tIns="0" rIns="0" bIns="0" rtlCol="0" anchor="t">
            <a:spAutoFit/>
          </a:bodyPr>
          <a:lstStyle/>
          <a:p>
            <a:pPr algn="l">
              <a:lnSpc>
                <a:spcPts val="10056"/>
              </a:lnSpc>
            </a:pPr>
            <a:r>
              <a:rPr lang="en-US" sz="9487">
                <a:solidFill>
                  <a:srgbClr val="FFFFFF"/>
                </a:solidFill>
                <a:latin typeface="Anton"/>
                <a:ea typeface="Anton"/>
                <a:cs typeface="Anton"/>
                <a:sym typeface="Anton"/>
              </a:rPr>
              <a:t> KNN CLASSIFICATION</a:t>
            </a:r>
          </a:p>
          <a:p>
            <a:pPr algn="l">
              <a:lnSpc>
                <a:spcPts val="10056"/>
              </a:lnSpc>
            </a:pPr>
            <a:endParaRPr lang="en-US" sz="9487">
              <a:solidFill>
                <a:srgbClr val="FFFFFF"/>
              </a:solidFill>
              <a:latin typeface="Anton"/>
              <a:ea typeface="Anton"/>
              <a:cs typeface="Anton"/>
              <a:sym typeface="Anton"/>
            </a:endParaRPr>
          </a:p>
        </p:txBody>
      </p:sp>
      <p:sp>
        <p:nvSpPr>
          <p:cNvPr id="10" name="TextBox 10"/>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10</a:t>
            </a:r>
          </a:p>
        </p:txBody>
      </p:sp>
      <p:sp>
        <p:nvSpPr>
          <p:cNvPr id="11" name="TextBox 11"/>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2" name="Freeform 12"/>
          <p:cNvSpPr/>
          <p:nvPr/>
        </p:nvSpPr>
        <p:spPr>
          <a:xfrm>
            <a:off x="6213283" y="364878"/>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6853209" y="408231"/>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2399714" y="1485304"/>
            <a:ext cx="5699833" cy="3337957"/>
          </a:xfrm>
          <a:custGeom>
            <a:avLst/>
            <a:gdLst/>
            <a:ahLst/>
            <a:cxnLst/>
            <a:rect l="l" t="t" r="r" b="b"/>
            <a:pathLst>
              <a:path w="5699833" h="3337957">
                <a:moveTo>
                  <a:pt x="0" y="0"/>
                </a:moveTo>
                <a:lnTo>
                  <a:pt x="5699834" y="0"/>
                </a:lnTo>
                <a:lnTo>
                  <a:pt x="5699834" y="3337958"/>
                </a:lnTo>
                <a:lnTo>
                  <a:pt x="0" y="3337958"/>
                </a:lnTo>
                <a:lnTo>
                  <a:pt x="0" y="0"/>
                </a:lnTo>
                <a:close/>
              </a:path>
            </a:pathLst>
          </a:custGeom>
          <a:blipFill>
            <a:blip r:embed="rId5"/>
            <a:stretch>
              <a:fillRect/>
            </a:stretch>
          </a:blipFill>
        </p:spPr>
      </p:sp>
      <p:sp>
        <p:nvSpPr>
          <p:cNvPr id="5" name="Freeform 5"/>
          <p:cNvSpPr/>
          <p:nvPr/>
        </p:nvSpPr>
        <p:spPr>
          <a:xfrm>
            <a:off x="1268259" y="5143500"/>
            <a:ext cx="5847685" cy="3332814"/>
          </a:xfrm>
          <a:custGeom>
            <a:avLst/>
            <a:gdLst/>
            <a:ahLst/>
            <a:cxnLst/>
            <a:rect l="l" t="t" r="r" b="b"/>
            <a:pathLst>
              <a:path w="5847685" h="3332814">
                <a:moveTo>
                  <a:pt x="0" y="0"/>
                </a:moveTo>
                <a:lnTo>
                  <a:pt x="5847686" y="0"/>
                </a:lnTo>
                <a:lnTo>
                  <a:pt x="5847686" y="3332814"/>
                </a:lnTo>
                <a:lnTo>
                  <a:pt x="0" y="3332814"/>
                </a:lnTo>
                <a:lnTo>
                  <a:pt x="0" y="0"/>
                </a:lnTo>
                <a:close/>
              </a:path>
            </a:pathLst>
          </a:custGeom>
          <a:blipFill>
            <a:blip r:embed="rId6"/>
            <a:stretch>
              <a:fillRect/>
            </a:stretch>
          </a:blipFill>
        </p:spPr>
      </p:sp>
      <p:sp>
        <p:nvSpPr>
          <p:cNvPr id="6" name="Freeform 6"/>
          <p:cNvSpPr/>
          <p:nvPr/>
        </p:nvSpPr>
        <p:spPr>
          <a:xfrm>
            <a:off x="638598" y="1549345"/>
            <a:ext cx="5606415" cy="3255717"/>
          </a:xfrm>
          <a:custGeom>
            <a:avLst/>
            <a:gdLst/>
            <a:ahLst/>
            <a:cxnLst/>
            <a:rect l="l" t="t" r="r" b="b"/>
            <a:pathLst>
              <a:path w="5606415" h="3255717">
                <a:moveTo>
                  <a:pt x="0" y="0"/>
                </a:moveTo>
                <a:lnTo>
                  <a:pt x="5606415" y="0"/>
                </a:lnTo>
                <a:lnTo>
                  <a:pt x="5606415" y="3255717"/>
                </a:lnTo>
                <a:lnTo>
                  <a:pt x="0" y="3255717"/>
                </a:lnTo>
                <a:lnTo>
                  <a:pt x="0" y="0"/>
                </a:lnTo>
                <a:close/>
              </a:path>
            </a:pathLst>
          </a:custGeom>
          <a:blipFill>
            <a:blip r:embed="rId7"/>
            <a:stretch>
              <a:fillRect/>
            </a:stretch>
          </a:blipFill>
        </p:spPr>
      </p:sp>
      <p:sp>
        <p:nvSpPr>
          <p:cNvPr id="7" name="Freeform 7"/>
          <p:cNvSpPr/>
          <p:nvPr/>
        </p:nvSpPr>
        <p:spPr>
          <a:xfrm>
            <a:off x="6486284" y="1503504"/>
            <a:ext cx="5675305" cy="3301558"/>
          </a:xfrm>
          <a:custGeom>
            <a:avLst/>
            <a:gdLst/>
            <a:ahLst/>
            <a:cxnLst/>
            <a:rect l="l" t="t" r="r" b="b"/>
            <a:pathLst>
              <a:path w="5675305" h="3301558">
                <a:moveTo>
                  <a:pt x="0" y="0"/>
                </a:moveTo>
                <a:lnTo>
                  <a:pt x="5675305" y="0"/>
                </a:lnTo>
                <a:lnTo>
                  <a:pt x="5675305" y="3301558"/>
                </a:lnTo>
                <a:lnTo>
                  <a:pt x="0" y="3301558"/>
                </a:lnTo>
                <a:lnTo>
                  <a:pt x="0" y="0"/>
                </a:lnTo>
                <a:close/>
              </a:path>
            </a:pathLst>
          </a:custGeom>
          <a:blipFill>
            <a:blip r:embed="rId8"/>
            <a:stretch>
              <a:fillRect/>
            </a:stretch>
          </a:blipFill>
        </p:spPr>
      </p:sp>
      <p:sp>
        <p:nvSpPr>
          <p:cNvPr id="8" name="Freeform 8"/>
          <p:cNvSpPr/>
          <p:nvPr/>
        </p:nvSpPr>
        <p:spPr>
          <a:xfrm>
            <a:off x="9446752" y="5143500"/>
            <a:ext cx="5802879" cy="3332814"/>
          </a:xfrm>
          <a:custGeom>
            <a:avLst/>
            <a:gdLst/>
            <a:ahLst/>
            <a:cxnLst/>
            <a:rect l="l" t="t" r="r" b="b"/>
            <a:pathLst>
              <a:path w="5802879" h="3332814">
                <a:moveTo>
                  <a:pt x="0" y="0"/>
                </a:moveTo>
                <a:lnTo>
                  <a:pt x="5802879" y="0"/>
                </a:lnTo>
                <a:lnTo>
                  <a:pt x="5802879" y="3332814"/>
                </a:lnTo>
                <a:lnTo>
                  <a:pt x="0" y="3332814"/>
                </a:lnTo>
                <a:lnTo>
                  <a:pt x="0" y="0"/>
                </a:lnTo>
                <a:close/>
              </a:path>
            </a:pathLst>
          </a:custGeom>
          <a:blipFill>
            <a:blip r:embed="rId9"/>
            <a:stretch>
              <a:fillRect/>
            </a:stretch>
          </a:blipFill>
        </p:spPr>
      </p:sp>
      <p:sp>
        <p:nvSpPr>
          <p:cNvPr id="9" name="TextBox 9"/>
          <p:cNvSpPr txBox="1"/>
          <p:nvPr/>
        </p:nvSpPr>
        <p:spPr>
          <a:xfrm>
            <a:off x="3747894" y="175804"/>
            <a:ext cx="10792212" cy="2587660"/>
          </a:xfrm>
          <a:prstGeom prst="rect">
            <a:avLst/>
          </a:prstGeom>
        </p:spPr>
        <p:txBody>
          <a:bodyPr lIns="0" tIns="0" rIns="0" bIns="0" rtlCol="0" anchor="t">
            <a:spAutoFit/>
          </a:bodyPr>
          <a:lstStyle/>
          <a:p>
            <a:pPr algn="ctr">
              <a:lnSpc>
                <a:spcPts val="10056"/>
              </a:lnSpc>
            </a:pPr>
            <a:r>
              <a:rPr lang="en-US" sz="9487">
                <a:solidFill>
                  <a:srgbClr val="FFFFFF"/>
                </a:solidFill>
                <a:latin typeface="Anton"/>
                <a:ea typeface="Anton"/>
                <a:cs typeface="Anton"/>
                <a:sym typeface="Anton"/>
              </a:rPr>
              <a:t>KNN RESULTS</a:t>
            </a:r>
          </a:p>
          <a:p>
            <a:pPr algn="ctr">
              <a:lnSpc>
                <a:spcPts val="10056"/>
              </a:lnSpc>
            </a:pPr>
            <a:endParaRPr lang="en-US" sz="9487">
              <a:solidFill>
                <a:srgbClr val="FFFFFF"/>
              </a:solidFill>
              <a:latin typeface="Anton"/>
              <a:ea typeface="Anton"/>
              <a:cs typeface="Anton"/>
              <a:sym typeface="Anton"/>
            </a:endParaRPr>
          </a:p>
        </p:txBody>
      </p:sp>
      <p:sp>
        <p:nvSpPr>
          <p:cNvPr id="10" name="TextBox 10"/>
          <p:cNvSpPr txBox="1"/>
          <p:nvPr/>
        </p:nvSpPr>
        <p:spPr>
          <a:xfrm>
            <a:off x="16982284" y="49327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11</a:t>
            </a:r>
          </a:p>
        </p:txBody>
      </p:sp>
      <p:sp>
        <p:nvSpPr>
          <p:cNvPr id="11" name="TextBox 11"/>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2" name="TextBox 12"/>
          <p:cNvSpPr txBox="1"/>
          <p:nvPr/>
        </p:nvSpPr>
        <p:spPr>
          <a:xfrm>
            <a:off x="0" y="8745658"/>
            <a:ext cx="17820252" cy="743331"/>
          </a:xfrm>
          <a:prstGeom prst="rect">
            <a:avLst/>
          </a:prstGeom>
        </p:spPr>
        <p:txBody>
          <a:bodyPr lIns="0" tIns="0" rIns="0" bIns="0" rtlCol="0" anchor="t">
            <a:spAutoFit/>
          </a:bodyPr>
          <a:lstStyle/>
          <a:p>
            <a:pPr algn="ctr">
              <a:lnSpc>
                <a:spcPts val="2861"/>
              </a:lnSpc>
              <a:spcBef>
                <a:spcPct val="0"/>
              </a:spcBef>
            </a:pPr>
            <a:r>
              <a:rPr lang="en-US" sz="2699">
                <a:solidFill>
                  <a:srgbClr val="FFFFFF"/>
                </a:solidFill>
                <a:latin typeface="Canva Sans"/>
                <a:ea typeface="Canva Sans"/>
                <a:cs typeface="Canva Sans"/>
                <a:sym typeface="Canva Sans"/>
              </a:rPr>
              <a:t>I tested different k values. k=5 gave the best accuracy of 76%. This means our model correctly predicts whether sales are high or low 76% of the time on new, unseen data.</a:t>
            </a:r>
          </a:p>
        </p:txBody>
      </p:sp>
      <p:sp>
        <p:nvSpPr>
          <p:cNvPr id="13" name="Freeform 13"/>
          <p:cNvSpPr/>
          <p:nvPr/>
        </p:nvSpPr>
        <p:spPr>
          <a:xfrm>
            <a:off x="638598" y="285460"/>
            <a:ext cx="639926" cy="768471"/>
          </a:xfrm>
          <a:custGeom>
            <a:avLst/>
            <a:gdLst/>
            <a:ahLst/>
            <a:cxnLst/>
            <a:rect l="l" t="t" r="r" b="b"/>
            <a:pathLst>
              <a:path w="639926" h="768471">
                <a:moveTo>
                  <a:pt x="0" y="0"/>
                </a:moveTo>
                <a:lnTo>
                  <a:pt x="639927" y="0"/>
                </a:lnTo>
                <a:lnTo>
                  <a:pt x="639927" y="768470"/>
                </a:lnTo>
                <a:lnTo>
                  <a:pt x="0" y="7684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1278525" y="328813"/>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117" t="-41920" r="-18932" b="-25458"/>
            </a:stretch>
          </a:blipFill>
        </p:spPr>
      </p:sp>
      <p:sp>
        <p:nvSpPr>
          <p:cNvPr id="3" name="Freeform 3"/>
          <p:cNvSpPr/>
          <p:nvPr/>
        </p:nvSpPr>
        <p:spPr>
          <a:xfrm>
            <a:off x="15338627" y="7224057"/>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663041" y="4526050"/>
            <a:ext cx="8191782" cy="3687222"/>
          </a:xfrm>
          <a:prstGeom prst="rect">
            <a:avLst/>
          </a:prstGeom>
        </p:spPr>
        <p:txBody>
          <a:bodyPr lIns="0" tIns="0" rIns="0" bIns="0" rtlCol="0" anchor="t">
            <a:spAutoFit/>
          </a:bodyPr>
          <a:lstStyle/>
          <a:p>
            <a:pPr marL="557841" lvl="1" indent="-278921" algn="l">
              <a:lnSpc>
                <a:spcPts val="3617"/>
              </a:lnSpc>
              <a:buAutoNum type="arabicPeriod"/>
            </a:pPr>
            <a:r>
              <a:rPr lang="en-US" sz="2583">
                <a:solidFill>
                  <a:srgbClr val="FFFFFF"/>
                </a:solidFill>
                <a:latin typeface="Codec Pro"/>
                <a:ea typeface="Codec Pro"/>
                <a:cs typeface="Codec Pro"/>
                <a:sym typeface="Codec Pro"/>
              </a:rPr>
              <a:t>Used same features but no target variable:</a:t>
            </a:r>
          </a:p>
          <a:p>
            <a:pPr algn="l">
              <a:lnSpc>
                <a:spcPts val="3617"/>
              </a:lnSpc>
            </a:pPr>
            <a:r>
              <a:rPr lang="en-US" sz="2583">
                <a:solidFill>
                  <a:srgbClr val="FFFFFF"/>
                </a:solidFill>
                <a:latin typeface="Codec Pro"/>
                <a:ea typeface="Codec Pro"/>
                <a:cs typeface="Codec Pro"/>
                <a:sym typeface="Codec Pro"/>
              </a:rPr>
              <a:t>In this step, I utilized the same features as before, but this time, there was no target variable. It's important to note that K-means clustering does not require labeled data; it works by grouping similar data points based on the features provided.</a:t>
            </a:r>
          </a:p>
          <a:p>
            <a:pPr algn="l">
              <a:lnSpc>
                <a:spcPts val="3617"/>
              </a:lnSpc>
            </a:pPr>
            <a:endParaRPr lang="en-US" sz="2583">
              <a:solidFill>
                <a:srgbClr val="FFFFFF"/>
              </a:solidFill>
              <a:latin typeface="Codec Pro"/>
              <a:ea typeface="Codec Pro"/>
              <a:cs typeface="Codec Pro"/>
              <a:sym typeface="Codec Pro"/>
            </a:endParaRPr>
          </a:p>
          <a:p>
            <a:pPr algn="l">
              <a:lnSpc>
                <a:spcPts val="3617"/>
              </a:lnSpc>
              <a:spcBef>
                <a:spcPct val="0"/>
              </a:spcBef>
            </a:pPr>
            <a:endParaRPr lang="en-US" sz="2583">
              <a:solidFill>
                <a:srgbClr val="FFFFFF"/>
              </a:solidFill>
              <a:latin typeface="Codec Pro"/>
              <a:ea typeface="Codec Pro"/>
              <a:cs typeface="Codec Pro"/>
              <a:sym typeface="Codec Pro"/>
            </a:endParaRPr>
          </a:p>
        </p:txBody>
      </p:sp>
      <p:sp>
        <p:nvSpPr>
          <p:cNvPr id="5" name="Freeform 5"/>
          <p:cNvSpPr/>
          <p:nvPr/>
        </p:nvSpPr>
        <p:spPr>
          <a:xfrm>
            <a:off x="12675809" y="-43695"/>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3414549" y="4418220"/>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sp>
      <p:sp>
        <p:nvSpPr>
          <p:cNvPr id="7" name="Freeform 7"/>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5326077" y="7535523"/>
            <a:ext cx="10190470" cy="1864110"/>
          </a:xfrm>
          <a:custGeom>
            <a:avLst/>
            <a:gdLst/>
            <a:ahLst/>
            <a:cxnLst/>
            <a:rect l="l" t="t" r="r" b="b"/>
            <a:pathLst>
              <a:path w="10190470" h="1864110">
                <a:moveTo>
                  <a:pt x="0" y="0"/>
                </a:moveTo>
                <a:lnTo>
                  <a:pt x="10190471" y="0"/>
                </a:lnTo>
                <a:lnTo>
                  <a:pt x="10190471" y="1864110"/>
                </a:lnTo>
                <a:lnTo>
                  <a:pt x="0" y="1864110"/>
                </a:lnTo>
                <a:lnTo>
                  <a:pt x="0" y="0"/>
                </a:lnTo>
                <a:close/>
              </a:path>
            </a:pathLst>
          </a:custGeom>
          <a:blipFill>
            <a:blip r:embed="rId8"/>
            <a:stretch>
              <a:fillRect/>
            </a:stretch>
          </a:blipFill>
        </p:spPr>
      </p:sp>
      <p:sp>
        <p:nvSpPr>
          <p:cNvPr id="9" name="TextBox 9"/>
          <p:cNvSpPr txBox="1"/>
          <p:nvPr/>
        </p:nvSpPr>
        <p:spPr>
          <a:xfrm>
            <a:off x="6213283" y="2065029"/>
            <a:ext cx="9670368" cy="2597557"/>
          </a:xfrm>
          <a:prstGeom prst="rect">
            <a:avLst/>
          </a:prstGeom>
        </p:spPr>
        <p:txBody>
          <a:bodyPr lIns="0" tIns="0" rIns="0" bIns="0" rtlCol="0" anchor="t">
            <a:spAutoFit/>
          </a:bodyPr>
          <a:lstStyle/>
          <a:p>
            <a:pPr algn="l">
              <a:lnSpc>
                <a:spcPts val="10056"/>
              </a:lnSpc>
            </a:pPr>
            <a:r>
              <a:rPr lang="en-US" sz="9487">
                <a:solidFill>
                  <a:srgbClr val="FFFFFF"/>
                </a:solidFill>
                <a:latin typeface="Anton"/>
                <a:ea typeface="Anton"/>
                <a:cs typeface="Anton"/>
                <a:sym typeface="Anton"/>
              </a:rPr>
              <a:t>K-MEANS CLUSTERING</a:t>
            </a:r>
          </a:p>
          <a:p>
            <a:pPr algn="l">
              <a:lnSpc>
                <a:spcPts val="10056"/>
              </a:lnSpc>
            </a:pPr>
            <a:endParaRPr lang="en-US" sz="9487">
              <a:solidFill>
                <a:srgbClr val="FFFFFF"/>
              </a:solidFill>
              <a:latin typeface="Anton"/>
              <a:ea typeface="Anton"/>
              <a:cs typeface="Anton"/>
              <a:sym typeface="Anton"/>
            </a:endParaRPr>
          </a:p>
        </p:txBody>
      </p:sp>
      <p:sp>
        <p:nvSpPr>
          <p:cNvPr id="10" name="TextBox 10"/>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12</a:t>
            </a:r>
          </a:p>
        </p:txBody>
      </p:sp>
      <p:sp>
        <p:nvSpPr>
          <p:cNvPr id="11" name="TextBox 11"/>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2" name="Freeform 12"/>
          <p:cNvSpPr/>
          <p:nvPr/>
        </p:nvSpPr>
        <p:spPr>
          <a:xfrm>
            <a:off x="5877534" y="488319"/>
            <a:ext cx="639926" cy="768471"/>
          </a:xfrm>
          <a:custGeom>
            <a:avLst/>
            <a:gdLst/>
            <a:ahLst/>
            <a:cxnLst/>
            <a:rect l="l" t="t" r="r" b="b"/>
            <a:pathLst>
              <a:path w="639926" h="768471">
                <a:moveTo>
                  <a:pt x="0" y="0"/>
                </a:moveTo>
                <a:lnTo>
                  <a:pt x="639927" y="0"/>
                </a:lnTo>
                <a:lnTo>
                  <a:pt x="639927" y="768471"/>
                </a:lnTo>
                <a:lnTo>
                  <a:pt x="0" y="76847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6517461" y="531672"/>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117" t="-41920" r="-18932" b="-25458"/>
            </a:stretch>
          </a:blipFill>
        </p:spPr>
      </p:sp>
      <p:sp>
        <p:nvSpPr>
          <p:cNvPr id="3" name="Freeform 3"/>
          <p:cNvSpPr/>
          <p:nvPr/>
        </p:nvSpPr>
        <p:spPr>
          <a:xfrm>
            <a:off x="15338627" y="7224057"/>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325422" y="3391101"/>
            <a:ext cx="8191782" cy="2772822"/>
          </a:xfrm>
          <a:prstGeom prst="rect">
            <a:avLst/>
          </a:prstGeom>
        </p:spPr>
        <p:txBody>
          <a:bodyPr lIns="0" tIns="0" rIns="0" bIns="0" rtlCol="0" anchor="t">
            <a:spAutoFit/>
          </a:bodyPr>
          <a:lstStyle/>
          <a:p>
            <a:pPr algn="l">
              <a:lnSpc>
                <a:spcPts val="3617"/>
              </a:lnSpc>
            </a:pPr>
            <a:r>
              <a:rPr lang="en-US" sz="2583">
                <a:solidFill>
                  <a:srgbClr val="FFFFFF"/>
                </a:solidFill>
                <a:latin typeface="Codec Pro"/>
                <a:ea typeface="Codec Pro"/>
                <a:cs typeface="Codec Pro"/>
                <a:sym typeface="Codec Pro"/>
              </a:rPr>
              <a:t>2.Normalized data:</a:t>
            </a:r>
          </a:p>
          <a:p>
            <a:pPr algn="l">
              <a:lnSpc>
                <a:spcPts val="3617"/>
              </a:lnSpc>
              <a:spcBef>
                <a:spcPct val="0"/>
              </a:spcBef>
            </a:pPr>
            <a:r>
              <a:rPr lang="en-US" sz="2583">
                <a:solidFill>
                  <a:srgbClr val="FFFFFF"/>
                </a:solidFill>
                <a:latin typeface="Codec Pro"/>
                <a:ea typeface="Codec Pro"/>
                <a:cs typeface="Codec Pro"/>
                <a:sym typeface="Codec Pro"/>
              </a:rPr>
              <a:t>The data was normalized to ensure that all features contribute equally to the distance calculations in the K-means algorithm. Normalization is crucial in clustering tasks to avoid biases towards features with larger ranges.</a:t>
            </a:r>
          </a:p>
        </p:txBody>
      </p:sp>
      <p:sp>
        <p:nvSpPr>
          <p:cNvPr id="5" name="Freeform 5"/>
          <p:cNvSpPr/>
          <p:nvPr/>
        </p:nvSpPr>
        <p:spPr>
          <a:xfrm>
            <a:off x="12675809" y="-43695"/>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3414549" y="4418220"/>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sp>
      <p:sp>
        <p:nvSpPr>
          <p:cNvPr id="7" name="Freeform 7"/>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6213283" y="2065029"/>
            <a:ext cx="9670368" cy="2597557"/>
          </a:xfrm>
          <a:prstGeom prst="rect">
            <a:avLst/>
          </a:prstGeom>
        </p:spPr>
        <p:txBody>
          <a:bodyPr lIns="0" tIns="0" rIns="0" bIns="0" rtlCol="0" anchor="t">
            <a:spAutoFit/>
          </a:bodyPr>
          <a:lstStyle/>
          <a:p>
            <a:pPr algn="l">
              <a:lnSpc>
                <a:spcPts val="10056"/>
              </a:lnSpc>
            </a:pPr>
            <a:r>
              <a:rPr lang="en-US" sz="9487">
                <a:solidFill>
                  <a:srgbClr val="FFFFFF"/>
                </a:solidFill>
                <a:latin typeface="Anton"/>
                <a:ea typeface="Anton"/>
                <a:cs typeface="Anton"/>
                <a:sym typeface="Anton"/>
              </a:rPr>
              <a:t>K-MEANS CLUSTERING</a:t>
            </a:r>
          </a:p>
          <a:p>
            <a:pPr algn="l">
              <a:lnSpc>
                <a:spcPts val="10056"/>
              </a:lnSpc>
            </a:pPr>
            <a:endParaRPr lang="en-US" sz="9487">
              <a:solidFill>
                <a:srgbClr val="FFFFFF"/>
              </a:solidFill>
              <a:latin typeface="Anton"/>
              <a:ea typeface="Anton"/>
              <a:cs typeface="Anton"/>
              <a:sym typeface="Anton"/>
            </a:endParaRPr>
          </a:p>
        </p:txBody>
      </p:sp>
      <p:sp>
        <p:nvSpPr>
          <p:cNvPr id="9" name="TextBox 9"/>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13</a:t>
            </a:r>
          </a:p>
        </p:txBody>
      </p:sp>
      <p:sp>
        <p:nvSpPr>
          <p:cNvPr id="10" name="TextBox 10"/>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1" name="Freeform 11"/>
          <p:cNvSpPr/>
          <p:nvPr/>
        </p:nvSpPr>
        <p:spPr>
          <a:xfrm>
            <a:off x="6213283" y="648893"/>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6853209" y="692246"/>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117" t="-41920" r="-18932" b="-25458"/>
            </a:stretch>
          </a:blipFill>
        </p:spPr>
      </p:sp>
      <p:sp>
        <p:nvSpPr>
          <p:cNvPr id="3" name="Freeform 3"/>
          <p:cNvSpPr/>
          <p:nvPr/>
        </p:nvSpPr>
        <p:spPr>
          <a:xfrm>
            <a:off x="15338627" y="7224057"/>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325422" y="3536835"/>
            <a:ext cx="10656862" cy="2772822"/>
          </a:xfrm>
          <a:prstGeom prst="rect">
            <a:avLst/>
          </a:prstGeom>
        </p:spPr>
        <p:txBody>
          <a:bodyPr lIns="0" tIns="0" rIns="0" bIns="0" rtlCol="0" anchor="t">
            <a:spAutoFit/>
          </a:bodyPr>
          <a:lstStyle/>
          <a:p>
            <a:pPr algn="l">
              <a:lnSpc>
                <a:spcPts val="3617"/>
              </a:lnSpc>
            </a:pPr>
            <a:r>
              <a:rPr lang="en-US" sz="2583">
                <a:solidFill>
                  <a:srgbClr val="FFFFFF"/>
                </a:solidFill>
                <a:latin typeface="Codec Pro"/>
                <a:ea typeface="Codec Pro"/>
                <a:cs typeface="Codec Pro"/>
                <a:sym typeface="Codec Pro"/>
              </a:rPr>
              <a:t>3.Applied K-means with k=2,3,4 clusters:</a:t>
            </a:r>
          </a:p>
          <a:p>
            <a:pPr algn="l">
              <a:lnSpc>
                <a:spcPts val="3617"/>
              </a:lnSpc>
            </a:pPr>
            <a:r>
              <a:rPr lang="en-US" sz="2583">
                <a:solidFill>
                  <a:srgbClr val="FFFFFF"/>
                </a:solidFill>
                <a:latin typeface="Codec Pro"/>
                <a:ea typeface="Codec Pro"/>
                <a:cs typeface="Codec Pro"/>
                <a:sym typeface="Codec Pro"/>
              </a:rPr>
              <a:t>I applied K-means clustering using different values of k (2 and 4) to determine the best number of clusters for the dataset. Each value of k provides different insights into how the stores can be grouped based on their characteristics.</a:t>
            </a:r>
          </a:p>
          <a:p>
            <a:pPr algn="l">
              <a:lnSpc>
                <a:spcPts val="3617"/>
              </a:lnSpc>
              <a:spcBef>
                <a:spcPct val="0"/>
              </a:spcBef>
            </a:pPr>
            <a:endParaRPr lang="en-US" sz="2583">
              <a:solidFill>
                <a:srgbClr val="FFFFFF"/>
              </a:solidFill>
              <a:latin typeface="Codec Pro"/>
              <a:ea typeface="Codec Pro"/>
              <a:cs typeface="Codec Pro"/>
              <a:sym typeface="Codec Pro"/>
            </a:endParaRPr>
          </a:p>
        </p:txBody>
      </p:sp>
      <p:sp>
        <p:nvSpPr>
          <p:cNvPr id="5" name="Freeform 5"/>
          <p:cNvSpPr/>
          <p:nvPr/>
        </p:nvSpPr>
        <p:spPr>
          <a:xfrm>
            <a:off x="12675809" y="-43695"/>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3414549" y="4418220"/>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sp>
      <p:sp>
        <p:nvSpPr>
          <p:cNvPr id="7" name="Freeform 7"/>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6213283" y="2065029"/>
            <a:ext cx="9670368" cy="1321207"/>
          </a:xfrm>
          <a:prstGeom prst="rect">
            <a:avLst/>
          </a:prstGeom>
        </p:spPr>
        <p:txBody>
          <a:bodyPr lIns="0" tIns="0" rIns="0" bIns="0" rtlCol="0" anchor="t">
            <a:spAutoFit/>
          </a:bodyPr>
          <a:lstStyle/>
          <a:p>
            <a:pPr algn="l">
              <a:lnSpc>
                <a:spcPts val="10056"/>
              </a:lnSpc>
            </a:pPr>
            <a:r>
              <a:rPr lang="en-US" sz="9487">
                <a:solidFill>
                  <a:srgbClr val="FFFFFF"/>
                </a:solidFill>
                <a:latin typeface="Anton"/>
                <a:ea typeface="Anton"/>
                <a:cs typeface="Anton"/>
                <a:sym typeface="Anton"/>
              </a:rPr>
              <a:t>K-MEANS CLUSTERING</a:t>
            </a:r>
          </a:p>
        </p:txBody>
      </p:sp>
      <p:sp>
        <p:nvSpPr>
          <p:cNvPr id="9" name="TextBox 9"/>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14</a:t>
            </a:r>
          </a:p>
        </p:txBody>
      </p:sp>
      <p:sp>
        <p:nvSpPr>
          <p:cNvPr id="10" name="TextBox 10"/>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1" name="Freeform 11"/>
          <p:cNvSpPr/>
          <p:nvPr/>
        </p:nvSpPr>
        <p:spPr>
          <a:xfrm>
            <a:off x="6325422" y="6309657"/>
            <a:ext cx="11885454" cy="3758775"/>
          </a:xfrm>
          <a:custGeom>
            <a:avLst/>
            <a:gdLst/>
            <a:ahLst/>
            <a:cxnLst/>
            <a:rect l="l" t="t" r="r" b="b"/>
            <a:pathLst>
              <a:path w="11885454" h="3758775">
                <a:moveTo>
                  <a:pt x="0" y="0"/>
                </a:moveTo>
                <a:lnTo>
                  <a:pt x="11885453" y="0"/>
                </a:lnTo>
                <a:lnTo>
                  <a:pt x="11885453" y="3758775"/>
                </a:lnTo>
                <a:lnTo>
                  <a:pt x="0" y="3758775"/>
                </a:lnTo>
                <a:lnTo>
                  <a:pt x="0" y="0"/>
                </a:lnTo>
                <a:close/>
              </a:path>
            </a:pathLst>
          </a:custGeom>
          <a:blipFill>
            <a:blip r:embed="rId8"/>
            <a:stretch>
              <a:fillRect/>
            </a:stretch>
          </a:blipFill>
        </p:spPr>
      </p:sp>
      <p:sp>
        <p:nvSpPr>
          <p:cNvPr id="12" name="Freeform 12"/>
          <p:cNvSpPr/>
          <p:nvPr/>
        </p:nvSpPr>
        <p:spPr>
          <a:xfrm>
            <a:off x="6213283" y="488319"/>
            <a:ext cx="639926" cy="768471"/>
          </a:xfrm>
          <a:custGeom>
            <a:avLst/>
            <a:gdLst/>
            <a:ahLst/>
            <a:cxnLst/>
            <a:rect l="l" t="t" r="r" b="b"/>
            <a:pathLst>
              <a:path w="639926" h="768471">
                <a:moveTo>
                  <a:pt x="0" y="0"/>
                </a:moveTo>
                <a:lnTo>
                  <a:pt x="639926" y="0"/>
                </a:lnTo>
                <a:lnTo>
                  <a:pt x="639926" y="768471"/>
                </a:lnTo>
                <a:lnTo>
                  <a:pt x="0" y="76847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6853209" y="531672"/>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p:transition spd="slow">
    <p:comb/>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117" t="-41920" r="-18932" b="-25458"/>
            </a:stretch>
          </a:blipFill>
        </p:spPr>
      </p:sp>
      <p:sp>
        <p:nvSpPr>
          <p:cNvPr id="3" name="Freeform 3"/>
          <p:cNvSpPr/>
          <p:nvPr/>
        </p:nvSpPr>
        <p:spPr>
          <a:xfrm>
            <a:off x="15338627" y="7224057"/>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4" name="Freeform 4"/>
          <p:cNvSpPr/>
          <p:nvPr/>
        </p:nvSpPr>
        <p:spPr>
          <a:xfrm>
            <a:off x="12675809" y="-43695"/>
            <a:ext cx="7315200" cy="1064029"/>
          </a:xfrm>
          <a:custGeom>
            <a:avLst/>
            <a:gdLst/>
            <a:ahLst/>
            <a:cxnLst/>
            <a:rect l="l" t="t" r="r" b="b"/>
            <a:pathLst>
              <a:path w="7315200" h="1064029">
                <a:moveTo>
                  <a:pt x="0" y="0"/>
                </a:moveTo>
                <a:lnTo>
                  <a:pt x="7315200" y="0"/>
                </a:lnTo>
                <a:lnTo>
                  <a:pt x="7315200" y="1064029"/>
                </a:lnTo>
                <a:lnTo>
                  <a:pt x="0" y="1064029"/>
                </a:lnTo>
                <a:lnTo>
                  <a:pt x="0" y="0"/>
                </a:lnTo>
                <a:close/>
              </a:path>
            </a:pathLst>
          </a:custGeom>
          <a:blipFill>
            <a:blip r:embed="rId3">
              <a:alphaModFix amt="18000"/>
              <a:extLst>
                <a:ext uri="{96DAC541-7B7A-43D3-8B79-37D633B846F1}">
                  <asvg:svgBlip xmlns:asvg="http://schemas.microsoft.com/office/drawing/2016/SVG/main" r:embed="rId4"/>
                </a:ext>
              </a:extLst>
            </a:blip>
            <a:stretch>
              <a:fillRect/>
            </a:stretch>
          </a:blipFill>
        </p:spPr>
      </p:sp>
      <p:sp>
        <p:nvSpPr>
          <p:cNvPr id="5" name="Freeform 5"/>
          <p:cNvSpPr/>
          <p:nvPr/>
        </p:nvSpPr>
        <p:spPr>
          <a:xfrm>
            <a:off x="-5105639" y="6361174"/>
            <a:ext cx="10974678" cy="9369631"/>
          </a:xfrm>
          <a:custGeom>
            <a:avLst/>
            <a:gdLst/>
            <a:ahLst/>
            <a:cxnLst/>
            <a:rect l="l" t="t" r="r" b="b"/>
            <a:pathLst>
              <a:path w="10974678" h="9369631">
                <a:moveTo>
                  <a:pt x="0" y="0"/>
                </a:moveTo>
                <a:lnTo>
                  <a:pt x="10974678" y="0"/>
                </a:lnTo>
                <a:lnTo>
                  <a:pt x="10974678" y="9369632"/>
                </a:lnTo>
                <a:lnTo>
                  <a:pt x="0" y="9369632"/>
                </a:lnTo>
                <a:lnTo>
                  <a:pt x="0" y="0"/>
                </a:lnTo>
                <a:close/>
              </a:path>
            </a:pathLst>
          </a:custGeom>
          <a:blipFill>
            <a:blip r:embed="rId5">
              <a:alphaModFix amt="61000"/>
            </a:blip>
            <a:stretch>
              <a:fillRect/>
            </a:stretch>
          </a:blipFill>
        </p:spPr>
      </p:sp>
      <p:sp>
        <p:nvSpPr>
          <p:cNvPr id="6" name="Freeform 6"/>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4687813" y="933450"/>
            <a:ext cx="13089404" cy="1401222"/>
          </a:xfrm>
          <a:prstGeom prst="rect">
            <a:avLst/>
          </a:prstGeom>
        </p:spPr>
        <p:txBody>
          <a:bodyPr lIns="0" tIns="0" rIns="0" bIns="0" rtlCol="0" anchor="t">
            <a:spAutoFit/>
          </a:bodyPr>
          <a:lstStyle/>
          <a:p>
            <a:pPr algn="l">
              <a:lnSpc>
                <a:spcPts val="3617"/>
              </a:lnSpc>
            </a:pPr>
            <a:r>
              <a:rPr lang="en-US" sz="2583">
                <a:solidFill>
                  <a:srgbClr val="FFFFFF"/>
                </a:solidFill>
                <a:latin typeface="Codec Pro"/>
                <a:ea typeface="Codec Pro"/>
                <a:cs typeface="Codec Pro"/>
                <a:sym typeface="Codec Pro"/>
              </a:rPr>
              <a:t>4.Visualized results (Price vs Income):</a:t>
            </a:r>
          </a:p>
          <a:p>
            <a:pPr algn="l">
              <a:lnSpc>
                <a:spcPts val="3617"/>
              </a:lnSpc>
              <a:spcBef>
                <a:spcPct val="0"/>
              </a:spcBef>
            </a:pPr>
            <a:r>
              <a:rPr lang="en-US" sz="2583">
                <a:solidFill>
                  <a:srgbClr val="FFFFFF"/>
                </a:solidFill>
                <a:latin typeface="Codec Pro"/>
                <a:ea typeface="Codec Pro"/>
                <a:cs typeface="Codec Pro"/>
                <a:sym typeface="Codec Pro"/>
              </a:rPr>
              <a:t>With k=2, groups are too broad. k=4 creates some very small clusters that might not be meaningful.</a:t>
            </a:r>
          </a:p>
        </p:txBody>
      </p:sp>
      <p:sp>
        <p:nvSpPr>
          <p:cNvPr id="10" name="TextBox 10"/>
          <p:cNvSpPr txBox="1"/>
          <p:nvPr/>
        </p:nvSpPr>
        <p:spPr>
          <a:xfrm>
            <a:off x="5487385" y="154914"/>
            <a:ext cx="9670368" cy="1015400"/>
          </a:xfrm>
          <a:prstGeom prst="rect">
            <a:avLst/>
          </a:prstGeom>
        </p:spPr>
        <p:txBody>
          <a:bodyPr lIns="0" tIns="0" rIns="0" bIns="0" rtlCol="0" anchor="t">
            <a:spAutoFit/>
          </a:bodyPr>
          <a:lstStyle/>
          <a:p>
            <a:pPr algn="l">
              <a:lnSpc>
                <a:spcPts val="7724"/>
              </a:lnSpc>
            </a:pPr>
            <a:r>
              <a:rPr lang="en-US" sz="7287">
                <a:solidFill>
                  <a:srgbClr val="FFFFFF"/>
                </a:solidFill>
                <a:latin typeface="Anton"/>
                <a:ea typeface="Anton"/>
                <a:cs typeface="Anton"/>
                <a:sym typeface="Anton"/>
              </a:rPr>
              <a:t>K-MEANS CLUSTERING</a:t>
            </a:r>
          </a:p>
        </p:txBody>
      </p:sp>
      <p:sp>
        <p:nvSpPr>
          <p:cNvPr id="11" name="TextBox 11"/>
          <p:cNvSpPr txBox="1"/>
          <p:nvPr/>
        </p:nvSpPr>
        <p:spPr>
          <a:xfrm>
            <a:off x="16982284" y="306145"/>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15</a:t>
            </a:r>
          </a:p>
        </p:txBody>
      </p:sp>
      <p:sp>
        <p:nvSpPr>
          <p:cNvPr id="12" name="TextBox 12"/>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3" name="Freeform 13"/>
          <p:cNvSpPr/>
          <p:nvPr/>
        </p:nvSpPr>
        <p:spPr>
          <a:xfrm>
            <a:off x="1235040" y="127471"/>
            <a:ext cx="639926" cy="768471"/>
          </a:xfrm>
          <a:custGeom>
            <a:avLst/>
            <a:gdLst/>
            <a:ahLst/>
            <a:cxnLst/>
            <a:rect l="l" t="t" r="r" b="b"/>
            <a:pathLst>
              <a:path w="639926" h="768471">
                <a:moveTo>
                  <a:pt x="0" y="0"/>
                </a:moveTo>
                <a:lnTo>
                  <a:pt x="639927" y="0"/>
                </a:lnTo>
                <a:lnTo>
                  <a:pt x="639927" y="768470"/>
                </a:lnTo>
                <a:lnTo>
                  <a:pt x="0" y="7684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4" name="TextBox 14"/>
          <p:cNvSpPr txBox="1"/>
          <p:nvPr/>
        </p:nvSpPr>
        <p:spPr>
          <a:xfrm>
            <a:off x="1874967" y="170824"/>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pic>
        <p:nvPicPr>
          <p:cNvPr id="16" name="Image 15">
            <a:extLst>
              <a:ext uri="{FF2B5EF4-FFF2-40B4-BE49-F238E27FC236}">
                <a16:creationId xmlns:a16="http://schemas.microsoft.com/office/drawing/2014/main" id="{9EE2D03A-B7B5-43CC-AD88-A1334ABA6ADA}"/>
              </a:ext>
            </a:extLst>
          </p:cNvPr>
          <p:cNvPicPr>
            <a:picLocks noChangeAspect="1"/>
          </p:cNvPicPr>
          <p:nvPr/>
        </p:nvPicPr>
        <p:blipFill>
          <a:blip r:embed="rId10"/>
          <a:stretch>
            <a:fillRect/>
          </a:stretch>
        </p:blipFill>
        <p:spPr>
          <a:xfrm>
            <a:off x="654640" y="2650970"/>
            <a:ext cx="7752908" cy="7636030"/>
          </a:xfrm>
          <a:prstGeom prst="rect">
            <a:avLst/>
          </a:prstGeom>
        </p:spPr>
      </p:pic>
      <p:pic>
        <p:nvPicPr>
          <p:cNvPr id="18" name="Image 17">
            <a:extLst>
              <a:ext uri="{FF2B5EF4-FFF2-40B4-BE49-F238E27FC236}">
                <a16:creationId xmlns:a16="http://schemas.microsoft.com/office/drawing/2014/main" id="{BB98EA4B-5067-4D95-A3D6-7B50746A0C55}"/>
              </a:ext>
            </a:extLst>
          </p:cNvPr>
          <p:cNvPicPr>
            <a:picLocks noChangeAspect="1"/>
          </p:cNvPicPr>
          <p:nvPr/>
        </p:nvPicPr>
        <p:blipFill>
          <a:blip r:embed="rId11"/>
          <a:stretch>
            <a:fillRect/>
          </a:stretch>
        </p:blipFill>
        <p:spPr>
          <a:xfrm>
            <a:off x="9451740" y="2655391"/>
            <a:ext cx="8683860" cy="759350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2279374" y="-1672132"/>
            <a:ext cx="10974678" cy="9369631"/>
          </a:xfrm>
          <a:custGeom>
            <a:avLst/>
            <a:gdLst/>
            <a:ahLst/>
            <a:cxnLst/>
            <a:rect l="l" t="t" r="r" b="b"/>
            <a:pathLst>
              <a:path w="10974678" h="9369631">
                <a:moveTo>
                  <a:pt x="0" y="0"/>
                </a:moveTo>
                <a:lnTo>
                  <a:pt x="10974678" y="0"/>
                </a:lnTo>
                <a:lnTo>
                  <a:pt x="10974678" y="9369632"/>
                </a:lnTo>
                <a:lnTo>
                  <a:pt x="0" y="9369632"/>
                </a:lnTo>
                <a:lnTo>
                  <a:pt x="0" y="0"/>
                </a:lnTo>
                <a:close/>
              </a:path>
            </a:pathLst>
          </a:custGeom>
          <a:blipFill>
            <a:blip r:embed="rId3">
              <a:alphaModFix amt="61000"/>
            </a:blip>
            <a:stretch>
              <a:fillRect/>
            </a:stretch>
          </a:blipFill>
        </p:spPr>
      </p:sp>
      <p:sp>
        <p:nvSpPr>
          <p:cNvPr id="4" name="Freeform 4"/>
          <p:cNvSpPr/>
          <p:nvPr/>
        </p:nvSpPr>
        <p:spPr>
          <a:xfrm>
            <a:off x="11714008" y="1170314"/>
            <a:ext cx="4903305" cy="10162291"/>
          </a:xfrm>
          <a:custGeom>
            <a:avLst/>
            <a:gdLst/>
            <a:ahLst/>
            <a:cxnLst/>
            <a:rect l="l" t="t" r="r" b="b"/>
            <a:pathLst>
              <a:path w="4903305" h="10162291">
                <a:moveTo>
                  <a:pt x="0" y="0"/>
                </a:moveTo>
                <a:lnTo>
                  <a:pt x="4903306" y="0"/>
                </a:lnTo>
                <a:lnTo>
                  <a:pt x="4903306" y="10162291"/>
                </a:lnTo>
                <a:lnTo>
                  <a:pt x="0" y="10162291"/>
                </a:lnTo>
                <a:lnTo>
                  <a:pt x="0" y="0"/>
                </a:lnTo>
                <a:close/>
              </a:path>
            </a:pathLst>
          </a:custGeom>
          <a:blipFill>
            <a:blip r:embed="rId4">
              <a:alphaModFix amt="46000"/>
            </a:blip>
            <a:stretch>
              <a:fillRect/>
            </a:stretch>
          </a:blipFill>
        </p:spPr>
      </p:sp>
      <p:sp>
        <p:nvSpPr>
          <p:cNvPr id="5" name="TextBox 5"/>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16</a:t>
            </a:r>
          </a:p>
        </p:txBody>
      </p:sp>
      <p:sp>
        <p:nvSpPr>
          <p:cNvPr id="6" name="TextBox 6"/>
          <p:cNvSpPr txBox="1"/>
          <p:nvPr/>
        </p:nvSpPr>
        <p:spPr>
          <a:xfrm>
            <a:off x="5295229" y="323921"/>
            <a:ext cx="10792212" cy="1321207"/>
          </a:xfrm>
          <a:prstGeom prst="rect">
            <a:avLst/>
          </a:prstGeom>
        </p:spPr>
        <p:txBody>
          <a:bodyPr lIns="0" tIns="0" rIns="0" bIns="0" rtlCol="0" anchor="t">
            <a:spAutoFit/>
          </a:bodyPr>
          <a:lstStyle/>
          <a:p>
            <a:pPr algn="l">
              <a:lnSpc>
                <a:spcPts val="10056"/>
              </a:lnSpc>
            </a:pPr>
            <a:r>
              <a:rPr lang="en-US" sz="9487">
                <a:solidFill>
                  <a:srgbClr val="FFFFFF"/>
                </a:solidFill>
                <a:latin typeface="Anton"/>
                <a:ea typeface="Anton"/>
                <a:cs typeface="Anton"/>
                <a:sym typeface="Anton"/>
              </a:rPr>
              <a:t>CONCLUSION</a:t>
            </a:r>
          </a:p>
        </p:txBody>
      </p:sp>
      <p:sp>
        <p:nvSpPr>
          <p:cNvPr id="7" name="TextBox 7"/>
          <p:cNvSpPr txBox="1"/>
          <p:nvPr/>
        </p:nvSpPr>
        <p:spPr>
          <a:xfrm>
            <a:off x="1110928" y="2210927"/>
            <a:ext cx="15647385" cy="7584217"/>
          </a:xfrm>
          <a:prstGeom prst="rect">
            <a:avLst/>
          </a:prstGeom>
        </p:spPr>
        <p:txBody>
          <a:bodyPr lIns="0" tIns="0" rIns="0" bIns="0" rtlCol="0" anchor="t">
            <a:spAutoFit/>
          </a:bodyPr>
          <a:lstStyle/>
          <a:p>
            <a:pPr algn="l">
              <a:lnSpc>
                <a:spcPts val="4597"/>
              </a:lnSpc>
            </a:pPr>
            <a:r>
              <a:rPr lang="en-US" sz="3283">
                <a:solidFill>
                  <a:srgbClr val="10D3F9"/>
                </a:solidFill>
                <a:latin typeface="Codec Pro"/>
                <a:ea typeface="Codec Pro"/>
                <a:cs typeface="Codec Pro"/>
                <a:sym typeface="Codec Pro"/>
              </a:rPr>
              <a:t>1. Difference between supervised and unsupervised learning:</a:t>
            </a:r>
          </a:p>
          <a:p>
            <a:pPr marL="708969" lvl="1" indent="-354485" algn="l">
              <a:lnSpc>
                <a:spcPts val="4597"/>
              </a:lnSpc>
              <a:buFont typeface="Arial"/>
              <a:buChar char="•"/>
            </a:pPr>
            <a:r>
              <a:rPr lang="en-US" sz="3283">
                <a:solidFill>
                  <a:srgbClr val="FFFFFF"/>
                </a:solidFill>
                <a:latin typeface="Codec Pro"/>
                <a:ea typeface="Codec Pro"/>
                <a:cs typeface="Codec Pro"/>
                <a:sym typeface="Codec Pro"/>
              </a:rPr>
              <a:t>Supervised (KNN): We use the High column (which we created) to learn.</a:t>
            </a:r>
          </a:p>
          <a:p>
            <a:pPr marL="708969" lvl="1" indent="-354485" algn="l">
              <a:lnSpc>
                <a:spcPts val="4597"/>
              </a:lnSpc>
              <a:buFont typeface="Arial"/>
              <a:buChar char="•"/>
            </a:pPr>
            <a:r>
              <a:rPr lang="en-US" sz="3283">
                <a:solidFill>
                  <a:srgbClr val="FFFFFF"/>
                </a:solidFill>
                <a:latin typeface="Codec Pro"/>
                <a:ea typeface="Codec Pro"/>
                <a:cs typeface="Codec Pro"/>
                <a:sym typeface="Codec Pro"/>
              </a:rPr>
              <a:t>Unsupervised (K-means): We ignore High, we just group stores by similarity.</a:t>
            </a:r>
          </a:p>
          <a:p>
            <a:pPr algn="l">
              <a:lnSpc>
                <a:spcPts val="4597"/>
              </a:lnSpc>
            </a:pPr>
            <a:r>
              <a:rPr lang="en-US" sz="3283">
                <a:solidFill>
                  <a:srgbClr val="10D3F9"/>
                </a:solidFill>
                <a:latin typeface="Codec Pro"/>
                <a:ea typeface="Codec Pro"/>
                <a:cs typeface="Codec Pro"/>
                <a:sym typeface="Codec Pro"/>
              </a:rPr>
              <a:t>2. For KNN</a:t>
            </a:r>
          </a:p>
          <a:p>
            <a:pPr algn="l">
              <a:lnSpc>
                <a:spcPts val="4597"/>
              </a:lnSpc>
            </a:pPr>
            <a:r>
              <a:rPr lang="en-US" sz="3283">
                <a:solidFill>
                  <a:srgbClr val="FFFFFF"/>
                </a:solidFill>
                <a:latin typeface="Codec Pro"/>
                <a:ea typeface="Codec Pro"/>
                <a:cs typeface="Codec Pro"/>
                <a:sym typeface="Codec Pro"/>
              </a:rPr>
              <a:t>a) What is the best k tested?</a:t>
            </a:r>
          </a:p>
          <a:p>
            <a:pPr algn="l">
              <a:lnSpc>
                <a:spcPts val="4597"/>
              </a:lnSpc>
            </a:pPr>
            <a:r>
              <a:rPr lang="en-US" sz="3283">
                <a:solidFill>
                  <a:srgbClr val="FFFFFF"/>
                </a:solidFill>
                <a:latin typeface="Codec Pro"/>
                <a:ea typeface="Codec Pro"/>
                <a:cs typeface="Codec Pro"/>
                <a:sym typeface="Codec Pro"/>
              </a:rPr>
              <a:t>I tested k = 1, 3, 5, 7, 9. The best score was with k = 5, which gave an accuracy of 76% on the test data.</a:t>
            </a:r>
          </a:p>
          <a:p>
            <a:pPr algn="l">
              <a:lnSpc>
                <a:spcPts val="4597"/>
              </a:lnSpc>
            </a:pPr>
            <a:r>
              <a:rPr lang="en-US" sz="3283">
                <a:solidFill>
                  <a:srgbClr val="FFFFFF"/>
                </a:solidFill>
                <a:latin typeface="Codec Pro"/>
                <a:ea typeface="Codec Pro"/>
                <a:cs typeface="Codec Pro"/>
                <a:sym typeface="Codec Pro"/>
              </a:rPr>
              <a:t>b) Is the model good?</a:t>
            </a:r>
          </a:p>
          <a:p>
            <a:pPr algn="l">
              <a:lnSpc>
                <a:spcPts val="4597"/>
              </a:lnSpc>
            </a:pPr>
            <a:r>
              <a:rPr lang="en-US" sz="3283">
                <a:solidFill>
                  <a:srgbClr val="FFFFFF"/>
                </a:solidFill>
                <a:latin typeface="Codec Pro"/>
                <a:ea typeface="Codec Pro"/>
                <a:cs typeface="Codec Pro"/>
                <a:sym typeface="Codec Pro"/>
              </a:rPr>
              <a:t>An accuracy of 76% means it correctly predicts 3 out of 4 sales. This is </a:t>
            </a:r>
            <a:r>
              <a:rPr lang="en-US" sz="3283" b="1">
                <a:solidFill>
                  <a:srgbClr val="FFFFFF"/>
                </a:solidFill>
                <a:latin typeface="Codec Pro Bold"/>
                <a:ea typeface="Codec Pro Bold"/>
                <a:cs typeface="Codec Pro Bold"/>
                <a:sym typeface="Codec Pro Bold"/>
              </a:rPr>
              <a:t>acceptable but could be improved</a:t>
            </a:r>
            <a:r>
              <a:rPr lang="en-US" sz="3283">
                <a:solidFill>
                  <a:srgbClr val="FFFFFF"/>
                </a:solidFill>
                <a:latin typeface="Codec Pro"/>
                <a:ea typeface="Codec Pro"/>
                <a:cs typeface="Codec Pro"/>
                <a:sym typeface="Codec Pro"/>
              </a:rPr>
              <a:t>.</a:t>
            </a:r>
          </a:p>
          <a:p>
            <a:pPr algn="l">
              <a:lnSpc>
                <a:spcPts val="4597"/>
              </a:lnSpc>
            </a:pPr>
            <a:endParaRPr lang="en-US" sz="3283">
              <a:solidFill>
                <a:srgbClr val="FFFFFF"/>
              </a:solidFill>
              <a:latin typeface="Codec Pro"/>
              <a:ea typeface="Codec Pro"/>
              <a:cs typeface="Codec Pro"/>
              <a:sym typeface="Codec Pro"/>
            </a:endParaRPr>
          </a:p>
          <a:p>
            <a:pPr algn="l">
              <a:lnSpc>
                <a:spcPts val="4597"/>
              </a:lnSpc>
            </a:pPr>
            <a:endParaRPr lang="en-US" sz="3283">
              <a:solidFill>
                <a:srgbClr val="FFFFFF"/>
              </a:solidFill>
              <a:latin typeface="Codec Pro"/>
              <a:ea typeface="Codec Pro"/>
              <a:cs typeface="Codec Pro"/>
              <a:sym typeface="Codec Pro"/>
            </a:endParaRPr>
          </a:p>
          <a:p>
            <a:pPr algn="l">
              <a:lnSpc>
                <a:spcPts val="4597"/>
              </a:lnSpc>
              <a:spcBef>
                <a:spcPct val="0"/>
              </a:spcBef>
            </a:pPr>
            <a:endParaRPr lang="en-US" sz="3283">
              <a:solidFill>
                <a:srgbClr val="FFFFFF"/>
              </a:solidFill>
              <a:latin typeface="Codec Pro"/>
              <a:ea typeface="Codec Pro"/>
              <a:cs typeface="Codec Pro"/>
              <a:sym typeface="Codec Pro"/>
            </a:endParaRPr>
          </a:p>
        </p:txBody>
      </p:sp>
      <p:sp>
        <p:nvSpPr>
          <p:cNvPr id="8" name="Freeform 8"/>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0" name="Freeform 10"/>
          <p:cNvSpPr/>
          <p:nvPr/>
        </p:nvSpPr>
        <p:spPr>
          <a:xfrm>
            <a:off x="1110928" y="401190"/>
            <a:ext cx="639926" cy="768471"/>
          </a:xfrm>
          <a:custGeom>
            <a:avLst/>
            <a:gdLst/>
            <a:ahLst/>
            <a:cxnLst/>
            <a:rect l="l" t="t" r="r" b="b"/>
            <a:pathLst>
              <a:path w="639926" h="768471">
                <a:moveTo>
                  <a:pt x="0" y="0"/>
                </a:moveTo>
                <a:lnTo>
                  <a:pt x="639927" y="0"/>
                </a:lnTo>
                <a:lnTo>
                  <a:pt x="639927" y="768471"/>
                </a:lnTo>
                <a:lnTo>
                  <a:pt x="0" y="76847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1750855" y="444543"/>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317" r="-3317"/>
            </a:stretch>
          </a:blipFill>
        </p:spPr>
      </p:sp>
      <p:sp>
        <p:nvSpPr>
          <p:cNvPr id="3" name="Freeform 3"/>
          <p:cNvSpPr/>
          <p:nvPr/>
        </p:nvSpPr>
        <p:spPr>
          <a:xfrm>
            <a:off x="11771961" y="-3514501"/>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3">
              <a:alphaModFix amt="61000"/>
            </a:blip>
            <a:stretch>
              <a:fillRect/>
            </a:stretch>
          </a:blipFill>
        </p:spPr>
      </p:sp>
      <p:sp>
        <p:nvSpPr>
          <p:cNvPr id="4" name="Freeform 4"/>
          <p:cNvSpPr/>
          <p:nvPr/>
        </p:nvSpPr>
        <p:spPr>
          <a:xfrm>
            <a:off x="-3561551" y="3909031"/>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3">
              <a:alphaModFix amt="61000"/>
            </a:blip>
            <a:stretch>
              <a:fillRect/>
            </a:stretch>
          </a:blipFill>
        </p:spPr>
      </p:sp>
      <p:sp>
        <p:nvSpPr>
          <p:cNvPr id="5" name="TextBox 5"/>
          <p:cNvSpPr txBox="1"/>
          <p:nvPr/>
        </p:nvSpPr>
        <p:spPr>
          <a:xfrm>
            <a:off x="1192129" y="1445347"/>
            <a:ext cx="14885786" cy="8060412"/>
          </a:xfrm>
          <a:prstGeom prst="rect">
            <a:avLst/>
          </a:prstGeom>
        </p:spPr>
        <p:txBody>
          <a:bodyPr lIns="0" tIns="0" rIns="0" bIns="0" rtlCol="0" anchor="t">
            <a:spAutoFit/>
          </a:bodyPr>
          <a:lstStyle/>
          <a:p>
            <a:pPr algn="l">
              <a:lnSpc>
                <a:spcPts val="4340"/>
              </a:lnSpc>
            </a:pPr>
            <a:r>
              <a:rPr lang="en-US" sz="3100" dirty="0">
                <a:solidFill>
                  <a:srgbClr val="10D3F9"/>
                </a:solidFill>
                <a:latin typeface="Codec Pro"/>
                <a:ea typeface="Codec Pro"/>
                <a:cs typeface="Codec Pro"/>
                <a:sym typeface="Codec Pro"/>
              </a:rPr>
              <a:t>3. For K-means</a:t>
            </a:r>
          </a:p>
          <a:p>
            <a:pPr marL="514350" indent="-514350" algn="l">
              <a:lnSpc>
                <a:spcPts val="4340"/>
              </a:lnSpc>
              <a:buAutoNum type="alphaLcParenR"/>
            </a:pPr>
            <a:r>
              <a:rPr lang="en-US" sz="3100" dirty="0">
                <a:solidFill>
                  <a:srgbClr val="FFFFFF"/>
                </a:solidFill>
                <a:latin typeface="Codec Pro"/>
                <a:ea typeface="Codec Pro"/>
                <a:cs typeface="Codec Pro"/>
                <a:sym typeface="Codec Pro"/>
              </a:rPr>
              <a:t>Are the clusters coherent?</a:t>
            </a:r>
          </a:p>
          <a:p>
            <a:r>
              <a:rPr lang="en-US" sz="3200" b="1" dirty="0"/>
              <a:t>1</a:t>
            </a:r>
            <a:r>
              <a:rPr lang="en-US" sz="3200" b="1" dirty="0">
                <a:solidFill>
                  <a:schemeClr val="bg1"/>
                </a:solidFill>
              </a:rPr>
              <a:t>The points are heavily mixed</a:t>
            </a:r>
          </a:p>
          <a:p>
            <a:r>
              <a:rPr lang="en-US" sz="3200" dirty="0">
                <a:solidFill>
                  <a:schemeClr val="bg1"/>
                </a:solidFill>
              </a:rPr>
              <a:t>In both graphs (k=2 and k=4), the colors representing clusters are </a:t>
            </a:r>
            <a:r>
              <a:rPr lang="en-US" sz="3200" b="1" dirty="0">
                <a:solidFill>
                  <a:schemeClr val="bg1"/>
                </a:solidFill>
              </a:rPr>
              <a:t>spread everywhere with no clear separation</a:t>
            </a:r>
            <a:r>
              <a:rPr lang="en-US" sz="3200" dirty="0">
                <a:solidFill>
                  <a:schemeClr val="bg1"/>
                </a:solidFill>
              </a:rPr>
              <a:t>.</a:t>
            </a:r>
          </a:p>
          <a:p>
            <a:pPr algn="l">
              <a:lnSpc>
                <a:spcPts val="4340"/>
              </a:lnSpc>
            </a:pPr>
            <a:r>
              <a:rPr lang="en-US" sz="3200" dirty="0">
                <a:solidFill>
                  <a:schemeClr val="bg1"/>
                </a:solidFill>
              </a:rPr>
              <a:t>No, the clusters are not very coherent.</a:t>
            </a:r>
          </a:p>
          <a:p>
            <a:pPr marL="514350" indent="-514350" algn="l">
              <a:lnSpc>
                <a:spcPts val="4340"/>
              </a:lnSpc>
              <a:buAutoNum type="alphaLcParenR"/>
            </a:pPr>
            <a:r>
              <a:rPr lang="en-US" sz="3200" dirty="0">
                <a:solidFill>
                  <a:schemeClr val="bg1"/>
                </a:solidFill>
              </a:rPr>
              <a:t>these two variables alone may not be enough,</a:t>
            </a:r>
            <a:endParaRPr lang="en-US" sz="3100" dirty="0">
              <a:solidFill>
                <a:schemeClr val="bg1"/>
              </a:solidFill>
              <a:latin typeface="Codec Pro"/>
              <a:ea typeface="Codec Pro"/>
              <a:cs typeface="Codec Pro"/>
              <a:sym typeface="Codec Pro"/>
            </a:endParaRPr>
          </a:p>
          <a:p>
            <a:pPr algn="l">
              <a:lnSpc>
                <a:spcPts val="4340"/>
              </a:lnSpc>
            </a:pPr>
            <a:r>
              <a:rPr lang="en-US" sz="3100" dirty="0">
                <a:solidFill>
                  <a:srgbClr val="FFFFFF"/>
                </a:solidFill>
                <a:latin typeface="Codec Pro"/>
                <a:ea typeface="Codec Pro"/>
                <a:cs typeface="Codec Pro"/>
                <a:sym typeface="Codec Pro"/>
              </a:rPr>
              <a:t>b) What other attributes could better separate the groups?</a:t>
            </a:r>
          </a:p>
          <a:p>
            <a:pPr algn="l">
              <a:lnSpc>
                <a:spcPts val="4340"/>
              </a:lnSpc>
            </a:pPr>
            <a:r>
              <a:rPr lang="en-US" sz="3100" dirty="0">
                <a:solidFill>
                  <a:srgbClr val="FFFFFF"/>
                </a:solidFill>
                <a:latin typeface="Codec Pro"/>
                <a:ea typeface="Codec Pro"/>
                <a:cs typeface="Codec Pro"/>
                <a:sym typeface="Codec Pro"/>
              </a:rPr>
              <a:t>1. Advertising: Marketing budgets strongly influence sales</a:t>
            </a:r>
          </a:p>
          <a:p>
            <a:pPr algn="l">
              <a:lnSpc>
                <a:spcPts val="4340"/>
              </a:lnSpc>
            </a:pPr>
            <a:r>
              <a:rPr lang="en-US" sz="3100" dirty="0">
                <a:solidFill>
                  <a:srgbClr val="FFFFFF"/>
                </a:solidFill>
                <a:latin typeface="Codec Pro"/>
                <a:ea typeface="Codec Pro"/>
                <a:cs typeface="Codec Pro"/>
                <a:sym typeface="Codec Pro"/>
              </a:rPr>
              <a:t>2. Population: Population density around the store</a:t>
            </a:r>
          </a:p>
          <a:p>
            <a:pPr algn="l">
              <a:lnSpc>
                <a:spcPts val="4340"/>
              </a:lnSpc>
            </a:pPr>
            <a:r>
              <a:rPr lang="en-US" sz="3100" dirty="0">
                <a:solidFill>
                  <a:srgbClr val="FFFFFF"/>
                </a:solidFill>
                <a:latin typeface="Codec Pro"/>
                <a:ea typeface="Codec Pro"/>
                <a:cs typeface="Codec Pro"/>
                <a:sym typeface="Codec Pro"/>
              </a:rPr>
              <a:t>4. What type of business could use this analysis?</a:t>
            </a:r>
          </a:p>
          <a:p>
            <a:pPr algn="l">
              <a:lnSpc>
                <a:spcPts val="4340"/>
              </a:lnSpc>
            </a:pPr>
            <a:r>
              <a:rPr lang="en-US" sz="3100" dirty="0">
                <a:solidFill>
                  <a:srgbClr val="FFFFFF"/>
                </a:solidFill>
                <a:latin typeface="Codec Pro"/>
                <a:ea typeface="Codec Pro"/>
                <a:cs typeface="Codec Pro"/>
                <a:sym typeface="Codec Pro"/>
              </a:rPr>
              <a:t> A furniture/home decor chain (like </a:t>
            </a:r>
            <a:r>
              <a:rPr lang="en-US" sz="3100" dirty="0" err="1">
                <a:solidFill>
                  <a:srgbClr val="FFFFFF"/>
                </a:solidFill>
                <a:latin typeface="Codec Pro"/>
                <a:ea typeface="Codec Pro"/>
                <a:cs typeface="Codec Pro"/>
                <a:sym typeface="Codec Pro"/>
              </a:rPr>
              <a:t>Carseats</a:t>
            </a:r>
            <a:r>
              <a:rPr lang="en-US" sz="3100" dirty="0">
                <a:solidFill>
                  <a:srgbClr val="FFFFFF"/>
                </a:solidFill>
                <a:latin typeface="Codec Pro"/>
                <a:ea typeface="Codec Pro"/>
                <a:cs typeface="Codec Pro"/>
                <a:sym typeface="Codec Pro"/>
              </a:rPr>
              <a:t>) for:</a:t>
            </a:r>
          </a:p>
          <a:p>
            <a:pPr algn="l">
              <a:lnSpc>
                <a:spcPts val="4340"/>
              </a:lnSpc>
            </a:pPr>
            <a:r>
              <a:rPr lang="en-US" sz="3100" dirty="0">
                <a:solidFill>
                  <a:srgbClr val="FFFFFF"/>
                </a:solidFill>
                <a:latin typeface="Codec Pro"/>
                <a:ea typeface="Codec Pro"/>
                <a:cs typeface="Codec Pro"/>
                <a:sym typeface="Codec Pro"/>
              </a:rPr>
              <a:t>Predicting performance of new locations (KNN)</a:t>
            </a:r>
          </a:p>
          <a:p>
            <a:pPr algn="l">
              <a:lnSpc>
                <a:spcPts val="4340"/>
              </a:lnSpc>
            </a:pPr>
            <a:r>
              <a:rPr lang="en-US" sz="3100" dirty="0">
                <a:solidFill>
                  <a:srgbClr val="FFFFFF"/>
                </a:solidFill>
                <a:latin typeface="Codec Pro"/>
                <a:ea typeface="Codec Pro"/>
                <a:cs typeface="Codec Pro"/>
                <a:sym typeface="Codec Pro"/>
              </a:rPr>
              <a:t>Adapting promotions by store group (K-means)</a:t>
            </a:r>
          </a:p>
          <a:p>
            <a:pPr algn="l">
              <a:lnSpc>
                <a:spcPts val="4340"/>
              </a:lnSpc>
            </a:pPr>
            <a:endParaRPr lang="en-US" sz="3100" dirty="0">
              <a:solidFill>
                <a:srgbClr val="FFFFFF"/>
              </a:solidFill>
              <a:latin typeface="Codec Pro"/>
              <a:ea typeface="Codec Pro"/>
              <a:cs typeface="Codec Pro"/>
              <a:sym typeface="Codec Pro"/>
            </a:endParaRPr>
          </a:p>
        </p:txBody>
      </p:sp>
      <p:sp>
        <p:nvSpPr>
          <p:cNvPr id="6" name="Freeform 6"/>
          <p:cNvSpPr/>
          <p:nvPr/>
        </p:nvSpPr>
        <p:spPr>
          <a:xfrm>
            <a:off x="16982284" y="9137727"/>
            <a:ext cx="554032" cy="261906"/>
          </a:xfrm>
          <a:custGeom>
            <a:avLst/>
            <a:gdLst/>
            <a:ahLst/>
            <a:cxnLst/>
            <a:rect l="l" t="t" r="r" b="b"/>
            <a:pathLst>
              <a:path w="554032" h="261906">
                <a:moveTo>
                  <a:pt x="0" y="0"/>
                </a:moveTo>
                <a:lnTo>
                  <a:pt x="554032" y="0"/>
                </a:lnTo>
                <a:lnTo>
                  <a:pt x="554032" y="261906"/>
                </a:lnTo>
                <a:lnTo>
                  <a:pt x="0" y="2619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88519" y="4659938"/>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16770738" y="1094114"/>
            <a:ext cx="1006479" cy="551014"/>
          </a:xfrm>
          <a:prstGeom prst="rect">
            <a:avLst/>
          </a:prstGeom>
        </p:spPr>
        <p:txBody>
          <a:bodyPr lIns="0" tIns="0" rIns="0" bIns="0" rtlCol="0" anchor="t">
            <a:spAutoFit/>
          </a:bodyPr>
          <a:lstStyle/>
          <a:p>
            <a:pPr algn="l">
              <a:lnSpc>
                <a:spcPts val="4429"/>
              </a:lnSpc>
              <a:spcBef>
                <a:spcPct val="0"/>
              </a:spcBef>
            </a:pPr>
            <a:r>
              <a:rPr lang="en-US" sz="3164">
                <a:solidFill>
                  <a:srgbClr val="FFFFFF"/>
                </a:solidFill>
                <a:latin typeface="Mokoto"/>
                <a:ea typeface="Mokoto"/>
                <a:cs typeface="Mokoto"/>
                <a:sym typeface="Mokoto"/>
              </a:rPr>
              <a:t>17</a:t>
            </a:r>
          </a:p>
        </p:txBody>
      </p:sp>
      <p:sp>
        <p:nvSpPr>
          <p:cNvPr id="9" name="TextBox 9"/>
          <p:cNvSpPr txBox="1"/>
          <p:nvPr/>
        </p:nvSpPr>
        <p:spPr>
          <a:xfrm>
            <a:off x="3823576" y="472546"/>
            <a:ext cx="10792212" cy="1316259"/>
          </a:xfrm>
          <a:prstGeom prst="rect">
            <a:avLst/>
          </a:prstGeom>
        </p:spPr>
        <p:txBody>
          <a:bodyPr lIns="0" tIns="0" rIns="0" bIns="0" rtlCol="0" anchor="t">
            <a:spAutoFit/>
          </a:bodyPr>
          <a:lstStyle/>
          <a:p>
            <a:pPr algn="ctr">
              <a:lnSpc>
                <a:spcPts val="10056"/>
              </a:lnSpc>
            </a:pPr>
            <a:r>
              <a:rPr lang="en-US" sz="9487">
                <a:solidFill>
                  <a:srgbClr val="FFFFFF"/>
                </a:solidFill>
                <a:latin typeface="Anton"/>
                <a:ea typeface="Anton"/>
                <a:cs typeface="Anton"/>
                <a:sym typeface="Anton"/>
              </a:rPr>
              <a:t>CONCLUSION</a:t>
            </a:r>
          </a:p>
        </p:txBody>
      </p:sp>
      <p:sp>
        <p:nvSpPr>
          <p:cNvPr id="10" name="TextBox 10"/>
          <p:cNvSpPr txBox="1"/>
          <p:nvPr/>
        </p:nvSpPr>
        <p:spPr>
          <a:xfrm>
            <a:off x="16087441" y="9055411"/>
            <a:ext cx="670872" cy="344222"/>
          </a:xfrm>
          <a:prstGeom prst="rect">
            <a:avLst/>
          </a:prstGeom>
        </p:spPr>
        <p:txBody>
          <a:bodyPr lIns="0" tIns="0" rIns="0" bIns="0" rtlCol="0" anchor="t">
            <a:spAutoFit/>
          </a:bodyPr>
          <a:lstStyle/>
          <a:p>
            <a:pPr algn="l">
              <a:lnSpc>
                <a:spcPts val="2764"/>
              </a:lnSpc>
              <a:spcBef>
                <a:spcPct val="0"/>
              </a:spcBef>
            </a:pPr>
            <a:r>
              <a:rPr lang="en-US" sz="1974">
                <a:solidFill>
                  <a:srgbClr val="FFFFFF"/>
                </a:solidFill>
                <a:latin typeface="Tomorrow"/>
                <a:ea typeface="Tomorrow"/>
                <a:cs typeface="Tomorrow"/>
                <a:sym typeface="Tomorrow"/>
              </a:rPr>
              <a:t>next</a:t>
            </a:r>
          </a:p>
        </p:txBody>
      </p:sp>
      <p:sp>
        <p:nvSpPr>
          <p:cNvPr id="11" name="Freeform 11"/>
          <p:cNvSpPr/>
          <p:nvPr/>
        </p:nvSpPr>
        <p:spPr>
          <a:xfrm>
            <a:off x="14540106" y="1906014"/>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sp>
      <p:sp>
        <p:nvSpPr>
          <p:cNvPr id="12" name="Freeform 12"/>
          <p:cNvSpPr/>
          <p:nvPr/>
        </p:nvSpPr>
        <p:spPr>
          <a:xfrm>
            <a:off x="1331868" y="507278"/>
            <a:ext cx="639926" cy="768471"/>
          </a:xfrm>
          <a:custGeom>
            <a:avLst/>
            <a:gdLst/>
            <a:ahLst/>
            <a:cxnLst/>
            <a:rect l="l" t="t" r="r" b="b"/>
            <a:pathLst>
              <a:path w="639926" h="768471">
                <a:moveTo>
                  <a:pt x="0" y="0"/>
                </a:moveTo>
                <a:lnTo>
                  <a:pt x="639927" y="0"/>
                </a:lnTo>
                <a:lnTo>
                  <a:pt x="639927" y="768471"/>
                </a:lnTo>
                <a:lnTo>
                  <a:pt x="0" y="76847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TextBox 13"/>
          <p:cNvSpPr txBox="1"/>
          <p:nvPr/>
        </p:nvSpPr>
        <p:spPr>
          <a:xfrm>
            <a:off x="1971795" y="550632"/>
            <a:ext cx="1851782" cy="999490"/>
          </a:xfrm>
          <a:prstGeom prst="rect">
            <a:avLst/>
          </a:prstGeom>
        </p:spPr>
        <p:txBody>
          <a:bodyPr lIns="0" tIns="0" rIns="0" bIns="0" rtlCol="0" anchor="t">
            <a:spAutoFit/>
          </a:bodyPr>
          <a:lstStyle/>
          <a:p>
            <a:pPr algn="l">
              <a:lnSpc>
                <a:spcPts val="2659"/>
              </a:lnSpc>
            </a:pPr>
            <a:r>
              <a:rPr lang="en-US" sz="1899" dirty="0">
                <a:solidFill>
                  <a:srgbClr val="FFFFFF"/>
                </a:solidFill>
                <a:latin typeface="Mokoto"/>
                <a:ea typeface="Mokoto"/>
                <a:cs typeface="Mokoto"/>
                <a:sym typeface="Mokoto"/>
              </a:rPr>
              <a:t>Manel</a:t>
            </a:r>
          </a:p>
          <a:p>
            <a:pPr algn="l">
              <a:lnSpc>
                <a:spcPts val="2659"/>
              </a:lnSpc>
            </a:pPr>
            <a:r>
              <a:rPr lang="en-US" sz="1899" dirty="0">
                <a:solidFill>
                  <a:srgbClr val="FFFFFF"/>
                </a:solidFill>
                <a:latin typeface="Mokoto"/>
                <a:ea typeface="Mokoto"/>
                <a:cs typeface="Mokoto"/>
                <a:sym typeface="Mokoto"/>
              </a:rPr>
              <a:t>Mezni</a:t>
            </a:r>
          </a:p>
          <a:p>
            <a:pPr algn="l">
              <a:lnSpc>
                <a:spcPts val="2659"/>
              </a:lnSpc>
              <a:spcBef>
                <a:spcPct val="0"/>
              </a:spcBef>
            </a:pPr>
            <a:endParaRPr lang="en-US" sz="1899" dirty="0">
              <a:solidFill>
                <a:srgbClr val="FFFFFF"/>
              </a:solidFill>
              <a:latin typeface="Mokoto"/>
              <a:ea typeface="Mokoto"/>
              <a:cs typeface="Mokoto"/>
              <a:sym typeface="Mokoto"/>
            </a:endParaRPr>
          </a:p>
        </p:txBody>
      </p:sp>
    </p:spTree>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028700" y="1020334"/>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1771961" y="-3514501"/>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sp>
      <p:sp>
        <p:nvSpPr>
          <p:cNvPr id="5" name="Freeform 5"/>
          <p:cNvSpPr/>
          <p:nvPr/>
        </p:nvSpPr>
        <p:spPr>
          <a:xfrm rot="-10672988">
            <a:off x="8330689" y="-1193436"/>
            <a:ext cx="2028348" cy="4203830"/>
          </a:xfrm>
          <a:custGeom>
            <a:avLst/>
            <a:gdLst/>
            <a:ahLst/>
            <a:cxnLst/>
            <a:rect l="l" t="t" r="r" b="b"/>
            <a:pathLst>
              <a:path w="2028348" h="4203830">
                <a:moveTo>
                  <a:pt x="0" y="0"/>
                </a:moveTo>
                <a:lnTo>
                  <a:pt x="2028348" y="0"/>
                </a:lnTo>
                <a:lnTo>
                  <a:pt x="2028348" y="4203830"/>
                </a:lnTo>
                <a:lnTo>
                  <a:pt x="0" y="4203830"/>
                </a:lnTo>
                <a:lnTo>
                  <a:pt x="0" y="0"/>
                </a:lnTo>
                <a:close/>
              </a:path>
            </a:pathLst>
          </a:custGeom>
          <a:blipFill>
            <a:blip r:embed="rId6">
              <a:alphaModFix amt="43000"/>
            </a:blip>
            <a:stretch>
              <a:fillRect/>
            </a:stretch>
          </a:blipFill>
        </p:spPr>
      </p:sp>
      <p:grpSp>
        <p:nvGrpSpPr>
          <p:cNvPr id="6" name="Group 6"/>
          <p:cNvGrpSpPr/>
          <p:nvPr/>
        </p:nvGrpSpPr>
        <p:grpSpPr>
          <a:xfrm>
            <a:off x="-421146" y="7200900"/>
            <a:ext cx="19910430" cy="3086100"/>
            <a:chOff x="0" y="0"/>
            <a:chExt cx="5243899" cy="812800"/>
          </a:xfrm>
        </p:grpSpPr>
        <p:sp>
          <p:nvSpPr>
            <p:cNvPr id="7" name="Freeform 7"/>
            <p:cNvSpPr/>
            <p:nvPr/>
          </p:nvSpPr>
          <p:spPr>
            <a:xfrm>
              <a:off x="0" y="0"/>
              <a:ext cx="5243899" cy="812800"/>
            </a:xfrm>
            <a:custGeom>
              <a:avLst/>
              <a:gdLst/>
              <a:ahLst/>
              <a:cxnLst/>
              <a:rect l="l" t="t" r="r" b="b"/>
              <a:pathLst>
                <a:path w="5243899" h="812800">
                  <a:moveTo>
                    <a:pt x="0" y="0"/>
                  </a:moveTo>
                  <a:lnTo>
                    <a:pt x="5243899" y="0"/>
                  </a:lnTo>
                  <a:lnTo>
                    <a:pt x="5243899" y="812800"/>
                  </a:lnTo>
                  <a:lnTo>
                    <a:pt x="0" y="812800"/>
                  </a:lnTo>
                  <a:close/>
                </a:path>
              </a:pathLst>
            </a:custGeom>
            <a:solidFill>
              <a:srgbClr val="09B6D5">
                <a:alpha val="15686"/>
              </a:srgbClr>
            </a:solidFill>
          </p:spPr>
        </p:sp>
        <p:sp>
          <p:nvSpPr>
            <p:cNvPr id="8" name="TextBox 8"/>
            <p:cNvSpPr txBox="1"/>
            <p:nvPr/>
          </p:nvSpPr>
          <p:spPr>
            <a:xfrm>
              <a:off x="0" y="-38100"/>
              <a:ext cx="5243899" cy="8509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4227327" y="8230171"/>
            <a:ext cx="485736" cy="485736"/>
          </a:xfrm>
          <a:custGeom>
            <a:avLst/>
            <a:gdLst/>
            <a:ahLst/>
            <a:cxnLst/>
            <a:rect l="l" t="t" r="r" b="b"/>
            <a:pathLst>
              <a:path w="485736" h="485736">
                <a:moveTo>
                  <a:pt x="0" y="0"/>
                </a:moveTo>
                <a:lnTo>
                  <a:pt x="485736" y="0"/>
                </a:lnTo>
                <a:lnTo>
                  <a:pt x="485736" y="485736"/>
                </a:lnTo>
                <a:lnTo>
                  <a:pt x="0" y="48573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10987464" y="8223628"/>
            <a:ext cx="498822" cy="498822"/>
          </a:xfrm>
          <a:custGeom>
            <a:avLst/>
            <a:gdLst/>
            <a:ahLst/>
            <a:cxnLst/>
            <a:rect l="l" t="t" r="r" b="b"/>
            <a:pathLst>
              <a:path w="498822" h="498822">
                <a:moveTo>
                  <a:pt x="0" y="0"/>
                </a:moveTo>
                <a:lnTo>
                  <a:pt x="498822" y="0"/>
                </a:lnTo>
                <a:lnTo>
                  <a:pt x="498822" y="498822"/>
                </a:lnTo>
                <a:lnTo>
                  <a:pt x="0" y="49882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1" name="TextBox 11"/>
          <p:cNvSpPr txBox="1"/>
          <p:nvPr/>
        </p:nvSpPr>
        <p:spPr>
          <a:xfrm>
            <a:off x="1925788" y="1122689"/>
            <a:ext cx="1851782" cy="605935"/>
          </a:xfrm>
          <a:prstGeom prst="rect">
            <a:avLst/>
          </a:prstGeom>
        </p:spPr>
        <p:txBody>
          <a:bodyPr lIns="0" tIns="0" rIns="0" bIns="0" rtlCol="0" anchor="t">
            <a:spAutoFit/>
          </a:bodyPr>
          <a:lstStyle/>
          <a:p>
            <a:pPr algn="l">
              <a:lnSpc>
                <a:spcPts val="2659"/>
              </a:lnSpc>
              <a:spcBef>
                <a:spcPct val="0"/>
              </a:spcBef>
            </a:pPr>
            <a:r>
              <a:rPr lang="en-US" sz="1899" dirty="0">
                <a:solidFill>
                  <a:srgbClr val="FFFFFF"/>
                </a:solidFill>
                <a:latin typeface="Mokoto"/>
                <a:ea typeface="Mokoto"/>
                <a:cs typeface="Mokoto"/>
                <a:sym typeface="Mokoto"/>
              </a:rPr>
              <a:t>Manel</a:t>
            </a:r>
          </a:p>
          <a:p>
            <a:pPr algn="l">
              <a:lnSpc>
                <a:spcPts val="2659"/>
              </a:lnSpc>
              <a:spcBef>
                <a:spcPct val="0"/>
              </a:spcBef>
            </a:pPr>
            <a:r>
              <a:rPr lang="en-US" sz="1899" dirty="0">
                <a:solidFill>
                  <a:srgbClr val="FFFFFF"/>
                </a:solidFill>
                <a:latin typeface="Mokoto"/>
                <a:ea typeface="Mokoto"/>
                <a:cs typeface="Mokoto"/>
                <a:sym typeface="Mokoto"/>
              </a:rPr>
              <a:t>mezni</a:t>
            </a:r>
          </a:p>
        </p:txBody>
      </p:sp>
      <p:sp>
        <p:nvSpPr>
          <p:cNvPr id="12" name="TextBox 12"/>
          <p:cNvSpPr txBox="1"/>
          <p:nvPr/>
        </p:nvSpPr>
        <p:spPr>
          <a:xfrm>
            <a:off x="16770738" y="1094114"/>
            <a:ext cx="1006479" cy="423193"/>
          </a:xfrm>
          <a:prstGeom prst="rect">
            <a:avLst/>
          </a:prstGeom>
        </p:spPr>
        <p:txBody>
          <a:bodyPr lIns="0" tIns="0" rIns="0" bIns="0" rtlCol="0" anchor="t">
            <a:spAutoFit/>
          </a:bodyPr>
          <a:lstStyle/>
          <a:p>
            <a:pPr algn="l">
              <a:lnSpc>
                <a:spcPts val="4429"/>
              </a:lnSpc>
              <a:spcBef>
                <a:spcPct val="0"/>
              </a:spcBef>
            </a:pPr>
            <a:r>
              <a:rPr lang="en-US" sz="3164" dirty="0">
                <a:solidFill>
                  <a:srgbClr val="FFFFFF"/>
                </a:solidFill>
                <a:latin typeface="Mokoto"/>
                <a:ea typeface="Mokoto"/>
                <a:cs typeface="Mokoto"/>
                <a:sym typeface="Mokoto"/>
              </a:rPr>
              <a:t>18</a:t>
            </a:r>
          </a:p>
        </p:txBody>
      </p:sp>
      <p:sp>
        <p:nvSpPr>
          <p:cNvPr id="13" name="TextBox 13"/>
          <p:cNvSpPr txBox="1"/>
          <p:nvPr/>
        </p:nvSpPr>
        <p:spPr>
          <a:xfrm>
            <a:off x="3747894" y="3509246"/>
            <a:ext cx="10792212" cy="1316259"/>
          </a:xfrm>
          <a:prstGeom prst="rect">
            <a:avLst/>
          </a:prstGeom>
        </p:spPr>
        <p:txBody>
          <a:bodyPr lIns="0" tIns="0" rIns="0" bIns="0" rtlCol="0" anchor="t">
            <a:spAutoFit/>
          </a:bodyPr>
          <a:lstStyle/>
          <a:p>
            <a:pPr algn="ctr">
              <a:lnSpc>
                <a:spcPts val="10056"/>
              </a:lnSpc>
            </a:pPr>
            <a:r>
              <a:rPr lang="en-US" sz="9487">
                <a:solidFill>
                  <a:srgbClr val="FFFFFF"/>
                </a:solidFill>
                <a:latin typeface="Anton"/>
                <a:ea typeface="Anton"/>
                <a:cs typeface="Anton"/>
                <a:sym typeface="Anton"/>
              </a:rPr>
              <a:t>THANK YOU!</a:t>
            </a:r>
          </a:p>
        </p:txBody>
      </p:sp>
      <p:sp>
        <p:nvSpPr>
          <p:cNvPr id="14" name="TextBox 14"/>
          <p:cNvSpPr txBox="1"/>
          <p:nvPr/>
        </p:nvSpPr>
        <p:spPr>
          <a:xfrm>
            <a:off x="11936682" y="8301869"/>
            <a:ext cx="5337295" cy="323291"/>
          </a:xfrm>
          <a:prstGeom prst="rect">
            <a:avLst/>
          </a:prstGeom>
        </p:spPr>
        <p:txBody>
          <a:bodyPr lIns="0" tIns="0" rIns="0" bIns="0" rtlCol="0" anchor="t">
            <a:spAutoFit/>
          </a:bodyPr>
          <a:lstStyle/>
          <a:p>
            <a:pPr algn="l">
              <a:lnSpc>
                <a:spcPts val="2185"/>
              </a:lnSpc>
            </a:pPr>
            <a:r>
              <a:rPr lang="en-US" sz="2005">
                <a:solidFill>
                  <a:srgbClr val="FFFFFF"/>
                </a:solidFill>
                <a:latin typeface="Codec Pro"/>
                <a:ea typeface="Codec Pro"/>
                <a:cs typeface="Codec Pro"/>
                <a:sym typeface="Codec Pro"/>
              </a:rPr>
              <a:t>www.linkedin.com/in/manelmezni</a:t>
            </a:r>
          </a:p>
        </p:txBody>
      </p:sp>
      <p:sp>
        <p:nvSpPr>
          <p:cNvPr id="15" name="TextBox 15"/>
          <p:cNvSpPr txBox="1"/>
          <p:nvPr/>
        </p:nvSpPr>
        <p:spPr>
          <a:xfrm>
            <a:off x="4928035" y="8301869"/>
            <a:ext cx="4606034" cy="323291"/>
          </a:xfrm>
          <a:prstGeom prst="rect">
            <a:avLst/>
          </a:prstGeom>
        </p:spPr>
        <p:txBody>
          <a:bodyPr lIns="0" tIns="0" rIns="0" bIns="0" rtlCol="0" anchor="t">
            <a:spAutoFit/>
          </a:bodyPr>
          <a:lstStyle/>
          <a:p>
            <a:pPr algn="l">
              <a:lnSpc>
                <a:spcPts val="2185"/>
              </a:lnSpc>
            </a:pPr>
            <a:r>
              <a:rPr lang="en-US" sz="2005">
                <a:solidFill>
                  <a:srgbClr val="FFFFFF"/>
                </a:solidFill>
                <a:latin typeface="Codec Pro"/>
                <a:ea typeface="Codec Pro"/>
                <a:cs typeface="Codec Pro"/>
                <a:sym typeface="Codec Pro"/>
              </a:rPr>
              <a:t>manelmezni688@gmail.com</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1032</Words>
  <Application>Microsoft Office PowerPoint</Application>
  <PresentationFormat>Personnalisé</PresentationFormat>
  <Paragraphs>147</Paragraphs>
  <Slides>18</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18</vt:i4>
      </vt:variant>
    </vt:vector>
  </HeadingPairs>
  <TitlesOfParts>
    <vt:vector size="27" baseType="lpstr">
      <vt:lpstr>Arial</vt:lpstr>
      <vt:lpstr>Anton</vt:lpstr>
      <vt:lpstr>Tomorrow</vt:lpstr>
      <vt:lpstr>Calibri</vt:lpstr>
      <vt:lpstr>Mokoto</vt:lpstr>
      <vt:lpstr>Codec Pro Bold</vt:lpstr>
      <vt:lpstr>Codec Pro</vt:lpstr>
      <vt:lpstr>Canva Sans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c:title>
  <cp:lastModifiedBy>User</cp:lastModifiedBy>
  <cp:revision>5</cp:revision>
  <dcterms:created xsi:type="dcterms:W3CDTF">2006-08-16T00:00:00Z</dcterms:created>
  <dcterms:modified xsi:type="dcterms:W3CDTF">2025-12-10T20:10:13Z</dcterms:modified>
  <dc:identifier>DAG7IETo_oY</dc:identifier>
</cp:coreProperties>
</file>